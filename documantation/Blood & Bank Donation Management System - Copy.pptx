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1" r:id="rId6"/>
    <p:sldId id="262" r:id="rId7"/>
    <p:sldId id="260"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RANG DEVANI" initials="TD" lastIdx="1" clrIdx="0">
    <p:extLst>
      <p:ext uri="{19B8F6BF-5375-455C-9EA6-DF929625EA0E}">
        <p15:presenceInfo xmlns:p15="http://schemas.microsoft.com/office/powerpoint/2012/main" userId="cc402fe1d357fae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31946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139647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1685884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C3373A-2183-493C-848B-1B087C6F28C9}" type="datetimeFigureOut">
              <a:rPr lang="en-IN" smtClean="0"/>
              <a:t>03-03-2023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85706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C3373A-2183-493C-848B-1B087C6F28C9}" type="datetimeFigureOut">
              <a:rPr lang="en-IN" smtClean="0"/>
              <a:t>03-03-2023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748903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773383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214875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3852917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C3373A-2183-493C-848B-1B087C6F28C9}" type="datetimeFigureOut">
              <a:rPr lang="en-IN" smtClean="0"/>
              <a:t>03-03-2023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1137072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C3373A-2183-493C-848B-1B087C6F28C9}" type="datetimeFigureOut">
              <a:rPr lang="en-IN" smtClean="0"/>
              <a:t>03-03-2023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589633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1497318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385828"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
        <p:nvSpPr>
          <p:cNvPr id="11" name="TextBox 10"/>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014327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461567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6C3373A-2183-493C-848B-1B087C6F28C9}" type="datetimeFigureOut">
              <a:rPr lang="en-IN" smtClean="0"/>
              <a:t>03-03-2023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31768074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6C3373A-2183-493C-848B-1B087C6F28C9}" type="datetimeFigureOut">
              <a:rPr lang="en-IN" smtClean="0"/>
              <a:t>03-03-2023</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38677591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2441100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C3373A-2183-493C-848B-1B087C6F28C9}" type="datetimeFigureOut">
              <a:rPr lang="en-IN" smtClean="0"/>
              <a:t>03-03-2023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929EF8-C904-45E0-BD28-367A7BC94688}" type="slidenum">
              <a:rPr lang="en-IN" smtClean="0"/>
              <a:t>‹#›</a:t>
            </a:fld>
            <a:endParaRPr lang="en-IN"/>
          </a:p>
        </p:txBody>
      </p:sp>
    </p:spTree>
    <p:extLst>
      <p:ext uri="{BB962C8B-B14F-4D97-AF65-F5344CB8AC3E}">
        <p14:creationId xmlns:p14="http://schemas.microsoft.com/office/powerpoint/2010/main" val="3685983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713"/>
          <a:stretch/>
        </p:blipFill>
        <p:spPr>
          <a:xfrm>
            <a:off x="8000197" y="0"/>
            <a:ext cx="1603387" cy="1143000"/>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4199"/>
          <a:stretch/>
        </p:blipFill>
        <p:spPr>
          <a:xfrm>
            <a:off x="8609012" y="6092866"/>
            <a:ext cx="993734" cy="765134"/>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6C3373A-2183-493C-848B-1B087C6F28C9}" type="datetimeFigureOut">
              <a:rPr lang="en-IN" smtClean="0"/>
              <a:t>03-03-2023</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C929EF8-C904-45E0-BD28-367A7BC94688}" type="slidenum">
              <a:rPr lang="en-IN" smtClean="0"/>
              <a:t>‹#›</a:t>
            </a:fld>
            <a:endParaRPr lang="en-IN"/>
          </a:p>
        </p:txBody>
      </p:sp>
    </p:spTree>
    <p:extLst>
      <p:ext uri="{BB962C8B-B14F-4D97-AF65-F5344CB8AC3E}">
        <p14:creationId xmlns:p14="http://schemas.microsoft.com/office/powerpoint/2010/main" val="334962129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4147-A14C-40AB-2B0D-1F3C76B4FD15}"/>
              </a:ext>
            </a:extLst>
          </p:cNvPr>
          <p:cNvSpPr>
            <a:spLocks noGrp="1"/>
          </p:cNvSpPr>
          <p:nvPr>
            <p:ph type="ctrTitle"/>
          </p:nvPr>
        </p:nvSpPr>
        <p:spPr>
          <a:xfrm>
            <a:off x="1524000" y="2929631"/>
            <a:ext cx="9144000" cy="1775533"/>
          </a:xfrm>
        </p:spPr>
        <p:txBody>
          <a:bodyPr>
            <a:normAutofit fontScale="90000"/>
          </a:bodyPr>
          <a:lstStyle/>
          <a:p>
            <a:pPr algn="ctr"/>
            <a:r>
              <a:rPr lang="en-IN" b="1" dirty="0">
                <a:latin typeface="Times New Roman" panose="02020603050405020304" pitchFamily="18" charset="0"/>
                <a:cs typeface="Times New Roman" panose="02020603050405020304" pitchFamily="18" charset="0"/>
              </a:rPr>
              <a:t>Blood &amp; Bank Donation Management System </a:t>
            </a:r>
          </a:p>
        </p:txBody>
      </p:sp>
      <p:sp>
        <p:nvSpPr>
          <p:cNvPr id="3" name="Subtitle 2">
            <a:extLst>
              <a:ext uri="{FF2B5EF4-FFF2-40B4-BE49-F238E27FC236}">
                <a16:creationId xmlns:a16="http://schemas.microsoft.com/office/drawing/2014/main" id="{E126DC1F-6F59-85A8-65ED-BC316E7B9BFF}"/>
              </a:ext>
            </a:extLst>
          </p:cNvPr>
          <p:cNvSpPr>
            <a:spLocks noGrp="1"/>
          </p:cNvSpPr>
          <p:nvPr>
            <p:ph type="subTitle" idx="1"/>
          </p:nvPr>
        </p:nvSpPr>
        <p:spPr>
          <a:xfrm>
            <a:off x="0" y="5406501"/>
            <a:ext cx="12192000" cy="461638"/>
          </a:xfrm>
        </p:spPr>
        <p:txBody>
          <a:bodyPr>
            <a:normAutofit/>
          </a:bodyPr>
          <a:lstStyle/>
          <a:p>
            <a:pPr algn="ctr"/>
            <a:r>
              <a:rPr lang="en-IN" dirty="0">
                <a:solidFill>
                  <a:schemeClr val="tx1"/>
                </a:solidFill>
                <a:latin typeface="Times New Roman" panose="02020603050405020304" pitchFamily="18" charset="0"/>
                <a:cs typeface="Times New Roman" panose="02020603050405020304" pitchFamily="18" charset="0"/>
              </a:rPr>
              <a:t>Project guided  :  MRS. </a:t>
            </a:r>
            <a:r>
              <a:rPr lang="en-IN" dirty="0" err="1">
                <a:solidFill>
                  <a:schemeClr val="tx1"/>
                </a:solidFill>
                <a:latin typeface="Times New Roman" panose="02020603050405020304" pitchFamily="18" charset="0"/>
                <a:cs typeface="Times New Roman" panose="02020603050405020304" pitchFamily="18" charset="0"/>
              </a:rPr>
              <a:t>Priti</a:t>
            </a:r>
            <a:r>
              <a:rPr lang="en-IN" dirty="0">
                <a:solidFill>
                  <a:schemeClr val="tx1"/>
                </a:solidFill>
                <a:latin typeface="Times New Roman" panose="02020603050405020304" pitchFamily="18" charset="0"/>
                <a:cs typeface="Times New Roman" panose="02020603050405020304" pitchFamily="18" charset="0"/>
              </a:rPr>
              <a:t> Patel                                       Submitted By  : Devani Yagnik N</a:t>
            </a:r>
          </a:p>
        </p:txBody>
      </p:sp>
      <p:sp>
        <p:nvSpPr>
          <p:cNvPr id="4" name="Title 1">
            <a:extLst>
              <a:ext uri="{FF2B5EF4-FFF2-40B4-BE49-F238E27FC236}">
                <a16:creationId xmlns:a16="http://schemas.microsoft.com/office/drawing/2014/main" id="{623A7F84-E8BB-A20A-7826-B07F84B28308}"/>
              </a:ext>
            </a:extLst>
          </p:cNvPr>
          <p:cNvSpPr txBox="1">
            <a:spLocks/>
          </p:cNvSpPr>
          <p:nvPr/>
        </p:nvSpPr>
        <p:spPr>
          <a:xfrm>
            <a:off x="0" y="177554"/>
            <a:ext cx="12192000" cy="211288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000" dirty="0">
                <a:latin typeface="Times New Roman" panose="02020603050405020304" pitchFamily="18" charset="0"/>
                <a:cs typeface="Times New Roman" panose="02020603050405020304" pitchFamily="18" charset="0"/>
              </a:rPr>
              <a:t>Shree </a:t>
            </a:r>
            <a:r>
              <a:rPr lang="en-IN" sz="4000" dirty="0" err="1">
                <a:latin typeface="Times New Roman" panose="02020603050405020304" pitchFamily="18" charset="0"/>
                <a:cs typeface="Times New Roman" panose="02020603050405020304" pitchFamily="18" charset="0"/>
              </a:rPr>
              <a:t>Ramkrishna</a:t>
            </a:r>
            <a:r>
              <a:rPr lang="en-IN" sz="4000" dirty="0">
                <a:latin typeface="Times New Roman" panose="02020603050405020304" pitchFamily="18" charset="0"/>
                <a:cs typeface="Times New Roman" panose="02020603050405020304" pitchFamily="18" charset="0"/>
              </a:rPr>
              <a:t> Institute of Computer Education &amp; Applied Science</a:t>
            </a:r>
          </a:p>
        </p:txBody>
      </p:sp>
    </p:spTree>
    <p:extLst>
      <p:ext uri="{BB962C8B-B14F-4D97-AF65-F5344CB8AC3E}">
        <p14:creationId xmlns:p14="http://schemas.microsoft.com/office/powerpoint/2010/main" val="797278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C62E2-D9FB-D53D-0FB9-BA9A4DDC968B}"/>
              </a:ext>
            </a:extLst>
          </p:cNvPr>
          <p:cNvSpPr>
            <a:spLocks noGrp="1"/>
          </p:cNvSpPr>
          <p:nvPr>
            <p:ph type="title"/>
          </p:nvPr>
        </p:nvSpPr>
        <p:spPr>
          <a:xfrm>
            <a:off x="838200" y="506027"/>
            <a:ext cx="10515600" cy="1319598"/>
          </a:xfrm>
        </p:spPr>
        <p:txBody>
          <a:bodyPr>
            <a:normAutofit/>
          </a:bodyPr>
          <a:lstStyle/>
          <a:p>
            <a:r>
              <a:rPr lang="en-US" sz="4400" b="1" dirty="0">
                <a:effectLst/>
                <a:latin typeface="Times New Roman" panose="02020603050405020304" pitchFamily="18" charset="0"/>
                <a:ea typeface="Calibri" panose="020F0502020204030204" pitchFamily="34"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43C25A-5709-CB2F-9083-12F7ACA321D3}"/>
              </a:ext>
            </a:extLst>
          </p:cNvPr>
          <p:cNvSpPr>
            <a:spLocks noGrp="1"/>
          </p:cNvSpPr>
          <p:nvPr>
            <p:ph idx="1"/>
          </p:nvPr>
        </p:nvSpPr>
        <p:spPr>
          <a:xfrm>
            <a:off x="838200" y="1722268"/>
            <a:ext cx="10515600" cy="4545367"/>
          </a:xfrm>
        </p:spPr>
        <p:txBody>
          <a:bodyPr anchor="ctr">
            <a:noAutofit/>
          </a:bodyPr>
          <a:lstStyle/>
          <a:p>
            <a:r>
              <a:rPr lang="en-IN" sz="2000" dirty="0">
                <a:latin typeface="Times New Roman" panose="02020603050405020304" pitchFamily="18" charset="0"/>
                <a:cs typeface="Times New Roman" panose="02020603050405020304" pitchFamily="18" charset="0"/>
              </a:rPr>
              <a:t>The project blood bank management system is known to be a pilot project that is designed for the blood bank to gather blood from various sources and distribute it to the needy people who have high Requirements for it.</a:t>
            </a:r>
          </a:p>
          <a:p>
            <a:r>
              <a:rPr lang="en-IN" sz="2000" dirty="0">
                <a:latin typeface="Times New Roman" panose="02020603050405020304" pitchFamily="18" charset="0"/>
                <a:cs typeface="Times New Roman" panose="02020603050405020304" pitchFamily="18" charset="0"/>
              </a:rPr>
              <a:t>The Software is designed to handle the daily transaction of the blood bank and Search the details when required.</a:t>
            </a:r>
          </a:p>
          <a:p>
            <a:r>
              <a:rPr lang="en-IN" sz="2000" dirty="0">
                <a:latin typeface="Times New Roman" panose="02020603050405020304" pitchFamily="18" charset="0"/>
                <a:cs typeface="Times New Roman" panose="02020603050405020304" pitchFamily="18" charset="0"/>
              </a:rPr>
              <a:t>It also helps to register the details of donors, blood collection details as well as blood issued reports</a:t>
            </a:r>
          </a:p>
          <a:p>
            <a:r>
              <a:rPr lang="en-IN" sz="2000" dirty="0">
                <a:latin typeface="Times New Roman" panose="02020603050405020304" pitchFamily="18" charset="0"/>
                <a:cs typeface="Times New Roman" panose="02020603050405020304" pitchFamily="18" charset="0"/>
              </a:rPr>
              <a:t>The software Application is designed in such a manner that it can suit the needs of all the blood bank requirements in the course of future.</a:t>
            </a:r>
          </a:p>
          <a:p>
            <a:r>
              <a:rPr lang="en-IN" sz="2000" dirty="0">
                <a:latin typeface="Times New Roman" panose="02020603050405020304" pitchFamily="18" charset="0"/>
                <a:cs typeface="Times New Roman" panose="02020603050405020304" pitchFamily="18" charset="0"/>
              </a:rPr>
              <a:t>It will help us to find the Blood group with its most efficient time to take care of the blood and it is more easy to hand over the blood to the hospital to help people to get blood on time.</a:t>
            </a:r>
          </a:p>
          <a:p>
            <a:r>
              <a:rPr lang="en-IN" sz="2000" dirty="0">
                <a:latin typeface="Times New Roman" panose="02020603050405020304" pitchFamily="18" charset="0"/>
                <a:cs typeface="Times New Roman" panose="02020603050405020304" pitchFamily="18" charset="0"/>
              </a:rPr>
              <a:t>This all thing is been stored and been seen in this blood bank management system. To help more people trying best to do so.</a:t>
            </a:r>
          </a:p>
        </p:txBody>
      </p:sp>
    </p:spTree>
    <p:extLst>
      <p:ext uri="{BB962C8B-B14F-4D97-AF65-F5344CB8AC3E}">
        <p14:creationId xmlns:p14="http://schemas.microsoft.com/office/powerpoint/2010/main" val="3158281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9A95B-9CDF-DB60-65F0-BF94C0714AA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Project Profile</a:t>
            </a:r>
          </a:p>
        </p:txBody>
      </p:sp>
      <p:sp>
        <p:nvSpPr>
          <p:cNvPr id="3" name="Content Placeholder 2">
            <a:extLst>
              <a:ext uri="{FF2B5EF4-FFF2-40B4-BE49-F238E27FC236}">
                <a16:creationId xmlns:a16="http://schemas.microsoft.com/office/drawing/2014/main" id="{0116DDCA-0EC0-9564-DCEB-0D2B2E993972}"/>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	Project title     : Blood &amp; Bank Donation Management System </a:t>
            </a:r>
          </a:p>
          <a:p>
            <a:r>
              <a:rPr lang="en-IN" dirty="0">
                <a:latin typeface="Times New Roman" panose="02020603050405020304" pitchFamily="18" charset="0"/>
                <a:cs typeface="Times New Roman" panose="02020603050405020304" pitchFamily="18" charset="0"/>
              </a:rPr>
              <a:t>	Front-end        : PHP</a:t>
            </a:r>
          </a:p>
          <a:p>
            <a:r>
              <a:rPr lang="en-IN" dirty="0">
                <a:latin typeface="Times New Roman" panose="02020603050405020304" pitchFamily="18" charset="0"/>
                <a:cs typeface="Times New Roman" panose="02020603050405020304" pitchFamily="18" charset="0"/>
              </a:rPr>
              <a:t>	Back-end         : MySQL</a:t>
            </a:r>
          </a:p>
          <a:p>
            <a:r>
              <a:rPr lang="en-IN" dirty="0">
                <a:latin typeface="Times New Roman" panose="02020603050405020304" pitchFamily="18" charset="0"/>
                <a:cs typeface="Times New Roman" panose="02020603050405020304" pitchFamily="18" charset="0"/>
              </a:rPr>
              <a:t>	Submitted By  : Devani Yagnik N</a:t>
            </a:r>
          </a:p>
          <a:p>
            <a:r>
              <a:rPr lang="en-IN" dirty="0">
                <a:latin typeface="Times New Roman" panose="02020603050405020304" pitchFamily="18" charset="0"/>
                <a:cs typeface="Times New Roman" panose="02020603050405020304" pitchFamily="18" charset="0"/>
              </a:rPr>
              <a:t>	Project guided  : </a:t>
            </a:r>
            <a:r>
              <a:rPr lang="en-IN" dirty="0" err="1">
                <a:latin typeface="Times New Roman" panose="02020603050405020304" pitchFamily="18" charset="0"/>
                <a:cs typeface="Times New Roman" panose="02020603050405020304" pitchFamily="18" charset="0"/>
              </a:rPr>
              <a:t>Priti</a:t>
            </a:r>
            <a:r>
              <a:rPr lang="en-IN" dirty="0">
                <a:latin typeface="Times New Roman" panose="02020603050405020304" pitchFamily="18" charset="0"/>
                <a:cs typeface="Times New Roman" panose="02020603050405020304" pitchFamily="18" charset="0"/>
              </a:rPr>
              <a:t> Patel</a:t>
            </a:r>
          </a:p>
          <a:p>
            <a:r>
              <a:rPr lang="en-IN" dirty="0">
                <a:latin typeface="Times New Roman" panose="02020603050405020304" pitchFamily="18" charset="0"/>
                <a:cs typeface="Times New Roman" panose="02020603050405020304" pitchFamily="18" charset="0"/>
              </a:rPr>
              <a:t>	Organization    : Shree </a:t>
            </a:r>
            <a:r>
              <a:rPr lang="en-IN" dirty="0" err="1">
                <a:latin typeface="Times New Roman" panose="02020603050405020304" pitchFamily="18" charset="0"/>
                <a:cs typeface="Times New Roman" panose="02020603050405020304" pitchFamily="18" charset="0"/>
              </a:rPr>
              <a:t>Ramkrishna</a:t>
            </a:r>
            <a:r>
              <a:rPr lang="en-IN" dirty="0">
                <a:latin typeface="Times New Roman" panose="02020603050405020304" pitchFamily="18" charset="0"/>
                <a:cs typeface="Times New Roman" panose="02020603050405020304" pitchFamily="18" charset="0"/>
              </a:rPr>
              <a:t> Institute of </a:t>
            </a:r>
          </a:p>
          <a:p>
            <a:pPr marL="0" indent="0">
              <a:buNone/>
            </a:pPr>
            <a:r>
              <a:rPr lang="en-IN" dirty="0">
                <a:latin typeface="Times New Roman" panose="02020603050405020304" pitchFamily="18" charset="0"/>
                <a:cs typeface="Times New Roman" panose="02020603050405020304" pitchFamily="18" charset="0"/>
              </a:rPr>
              <a:t>                                     Computer Education &amp; Applied   </a:t>
            </a:r>
          </a:p>
          <a:p>
            <a:pPr marL="0" indent="0">
              <a:buNone/>
            </a:pPr>
            <a:r>
              <a:rPr lang="en-IN" dirty="0">
                <a:latin typeface="Times New Roman" panose="02020603050405020304" pitchFamily="18" charset="0"/>
                <a:cs typeface="Times New Roman" panose="02020603050405020304" pitchFamily="18" charset="0"/>
              </a:rPr>
              <a:t>                                     Science</a:t>
            </a:r>
          </a:p>
        </p:txBody>
      </p:sp>
    </p:spTree>
    <p:extLst>
      <p:ext uri="{BB962C8B-B14F-4D97-AF65-F5344CB8AC3E}">
        <p14:creationId xmlns:p14="http://schemas.microsoft.com/office/powerpoint/2010/main" val="3097050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79AB-91AB-43B4-3384-2FA14120CC78}"/>
              </a:ext>
            </a:extLst>
          </p:cNvPr>
          <p:cNvSpPr>
            <a:spLocks noGrp="1"/>
          </p:cNvSpPr>
          <p:nvPr>
            <p:ph type="title"/>
          </p:nvPr>
        </p:nvSpPr>
        <p:spPr/>
        <p:txBody>
          <a:bodyPr>
            <a:normAutofit/>
          </a:bodyPr>
          <a:lstStyle/>
          <a:p>
            <a:r>
              <a:rPr lang="en-US" b="1" dirty="0">
                <a:effectLst/>
                <a:latin typeface="Times New Roman" panose="02020603050405020304" pitchFamily="18" charset="0"/>
                <a:ea typeface="Calibri" panose="020F0502020204030204" pitchFamily="34" charset="0"/>
                <a:cs typeface="Times New Roman" panose="02020603050405020304" pitchFamily="18" charset="0"/>
              </a:rPr>
              <a:t>Objective </a:t>
            </a:r>
            <a:r>
              <a:rPr lang="en-US" b="1" dirty="0">
                <a:latin typeface="Times New Roman" panose="02020603050405020304" pitchFamily="18" charset="0"/>
                <a:ea typeface="Calibri" panose="020F0502020204030204" pitchFamily="34" charset="0"/>
                <a:cs typeface="Times New Roman" panose="02020603050405020304" pitchFamily="18" charset="0"/>
              </a:rPr>
              <a:t>O</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f </a:t>
            </a:r>
            <a:r>
              <a:rPr lang="en-US" b="1" dirty="0">
                <a:latin typeface="Times New Roman" panose="02020603050405020304" pitchFamily="18" charset="0"/>
                <a:ea typeface="Calibri" panose="020F0502020204030204" pitchFamily="34" charset="0"/>
                <a:cs typeface="Times New Roman" panose="02020603050405020304" pitchFamily="18" charset="0"/>
              </a:rPr>
              <a:t>T</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he System</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F3BB799-C4E2-A2EE-A767-7CC6ACC60D8C}"/>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The main objective of the Blood Bank Management System is to manage the details of Blood , Donor , Blood Group.</a:t>
            </a:r>
          </a:p>
          <a:p>
            <a:r>
              <a:rPr lang="en-IN" dirty="0">
                <a:latin typeface="Times New Roman" panose="02020603050405020304" pitchFamily="18" charset="0"/>
                <a:cs typeface="Times New Roman" panose="02020603050405020304" pitchFamily="18" charset="0"/>
              </a:rPr>
              <a:t> It manages all the information about Blood . </a:t>
            </a:r>
          </a:p>
          <a:p>
            <a:r>
              <a:rPr lang="en-IN" dirty="0">
                <a:latin typeface="Times New Roman" panose="02020603050405020304" pitchFamily="18" charset="0"/>
                <a:cs typeface="Times New Roman" panose="02020603050405020304" pitchFamily="18" charset="0"/>
              </a:rPr>
              <a:t>project is totally built at administrative end and thus only the administrator is guaranteed the access</a:t>
            </a:r>
          </a:p>
          <a:p>
            <a:r>
              <a:rPr lang="en-IN" dirty="0">
                <a:latin typeface="Times New Roman" panose="02020603050405020304" pitchFamily="18" charset="0"/>
                <a:cs typeface="Times New Roman" panose="02020603050405020304" pitchFamily="18" charset="0"/>
              </a:rPr>
              <a:t>Admin and user can operate system 24/7.</a:t>
            </a:r>
          </a:p>
          <a:p>
            <a:r>
              <a:rPr lang="en-IN" b="0" i="0" dirty="0">
                <a:effectLst/>
                <a:latin typeface="Times New Roman" panose="02020603050405020304" pitchFamily="18" charset="0"/>
                <a:cs typeface="Times New Roman" panose="02020603050405020304" pitchFamily="18" charset="0"/>
              </a:rPr>
              <a:t>To check the availability of blood bags anytime</a:t>
            </a:r>
          </a:p>
          <a:p>
            <a:r>
              <a:rPr lang="en-IN" b="0" i="0" dirty="0">
                <a:effectLst/>
                <a:latin typeface="Times New Roman" panose="02020603050405020304" pitchFamily="18" charset="0"/>
                <a:cs typeface="Times New Roman" panose="02020603050405020304" pitchFamily="18" charset="0"/>
              </a:rPr>
              <a:t>To manage the information of its blood donor</a:t>
            </a:r>
          </a:p>
          <a:p>
            <a:r>
              <a:rPr lang="en-IN" b="0" i="0" dirty="0">
                <a:effectLst/>
                <a:latin typeface="Times New Roman" panose="02020603050405020304" pitchFamily="18" charset="0"/>
                <a:cs typeface="Times New Roman" panose="02020603050405020304" pitchFamily="18" charset="0"/>
              </a:rPr>
              <a:t>Support fast searching to find match blood bags for the right person.</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271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58EFD-A8B4-908B-B0BF-4F5D82D99857}"/>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Purposed</a:t>
            </a:r>
            <a:r>
              <a:rPr lang="en-IN" b="1" i="0" dirty="0">
                <a:solidFill>
                  <a:schemeClr val="tx1"/>
                </a:solidFill>
                <a:effectLst/>
                <a:latin typeface="Times New Roman" panose="02020603050405020304" pitchFamily="18" charset="0"/>
                <a:cs typeface="Times New Roman" panose="02020603050405020304" pitchFamily="18" charset="0"/>
              </a:rPr>
              <a:t> System</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BA6127-0A51-B492-80C9-79465C160A05}"/>
              </a:ext>
            </a:extLst>
          </p:cNvPr>
          <p:cNvSpPr>
            <a:spLocks noGrp="1"/>
          </p:cNvSpPr>
          <p:nvPr>
            <p:ph idx="1"/>
          </p:nvPr>
        </p:nvSpPr>
        <p:spPr/>
        <p:txBody>
          <a:bodyPr>
            <a:normAutofit fontScale="92500" lnSpcReduction="20000"/>
          </a:bodyPr>
          <a:lstStyle/>
          <a:p>
            <a:r>
              <a:rPr lang="en-IN" sz="2800" dirty="0">
                <a:latin typeface="Times New Roman" panose="02020603050405020304" pitchFamily="18" charset="0"/>
                <a:cs typeface="Times New Roman" panose="02020603050405020304" pitchFamily="18" charset="0"/>
              </a:rPr>
              <a:t>Our system will be used by tow types of users Admin and User.</a:t>
            </a:r>
          </a:p>
          <a:p>
            <a:endParaRPr lang="en-IN" sz="2800" dirty="0"/>
          </a:p>
          <a:p>
            <a:r>
              <a:rPr lang="en-IN" sz="2800" dirty="0"/>
              <a:t>Administrator</a:t>
            </a:r>
            <a:endParaRPr lang="en-IN" dirty="0"/>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Login Facility</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Donor Manage</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Check Contact Query</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Camp Manage</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Pages Manages</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Change Password</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Logout</a:t>
            </a:r>
          </a:p>
          <a:p>
            <a:pPr marL="0" indent="0">
              <a:buNone/>
            </a:pPr>
            <a:endParaRPr lang="en-IN" dirty="0"/>
          </a:p>
          <a:p>
            <a:pPr marL="0" indent="0" algn="ctr">
              <a:buNone/>
            </a:pPr>
            <a:endParaRPr lang="en-IN" sz="2800" dirty="0"/>
          </a:p>
          <a:p>
            <a:endParaRPr lang="en-IN" dirty="0"/>
          </a:p>
        </p:txBody>
      </p:sp>
    </p:spTree>
    <p:extLst>
      <p:ext uri="{BB962C8B-B14F-4D97-AF65-F5344CB8AC3E}">
        <p14:creationId xmlns:p14="http://schemas.microsoft.com/office/powerpoint/2010/main" val="763364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58EFD-A8B4-908B-B0BF-4F5D82D99857}"/>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Purposed</a:t>
            </a:r>
            <a:r>
              <a:rPr lang="en-IN" b="1" i="0" dirty="0">
                <a:solidFill>
                  <a:schemeClr val="tx1"/>
                </a:solidFill>
                <a:effectLst/>
                <a:latin typeface="Times New Roman" panose="02020603050405020304" pitchFamily="18" charset="0"/>
                <a:cs typeface="Times New Roman" panose="02020603050405020304" pitchFamily="18" charset="0"/>
              </a:rPr>
              <a:t> System</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BA6127-0A51-B492-80C9-79465C160A05}"/>
              </a:ext>
            </a:extLst>
          </p:cNvPr>
          <p:cNvSpPr>
            <a:spLocks noGrp="1"/>
          </p:cNvSpPr>
          <p:nvPr>
            <p:ph idx="1"/>
          </p:nvPr>
        </p:nvSpPr>
        <p:spPr/>
        <p:txBody>
          <a:bodyPr>
            <a:normAutofit/>
          </a:bodyPr>
          <a:lstStyle/>
          <a:p>
            <a:r>
              <a:rPr lang="en-IN" dirty="0"/>
              <a:t>User</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View Pages</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View Camp Details</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View Blood Donor Info</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Registration as Donor</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Search Available Blood</a:t>
            </a:r>
          </a:p>
          <a:p>
            <a:pPr marL="914400" lvl="1" indent="-457200">
              <a:buFont typeface="+mj-lt"/>
              <a:buAutoNum type="arabicPeriod"/>
            </a:pPr>
            <a:r>
              <a:rPr lang="en-IN" sz="2200" dirty="0">
                <a:latin typeface="Times New Roman" panose="02020603050405020304" pitchFamily="18" charset="0"/>
                <a:cs typeface="Times New Roman" panose="02020603050405020304" pitchFamily="18" charset="0"/>
              </a:rPr>
              <a:t>Contact Admin</a:t>
            </a:r>
          </a:p>
          <a:p>
            <a:pPr marL="0" indent="0">
              <a:buNone/>
            </a:pPr>
            <a:endParaRPr lang="en-IN" dirty="0"/>
          </a:p>
          <a:p>
            <a:pPr marL="0" indent="0" algn="ctr">
              <a:buNone/>
            </a:pPr>
            <a:endParaRPr lang="en-IN" sz="2800" dirty="0"/>
          </a:p>
          <a:p>
            <a:endParaRPr lang="en-IN" dirty="0"/>
          </a:p>
        </p:txBody>
      </p:sp>
    </p:spTree>
    <p:extLst>
      <p:ext uri="{BB962C8B-B14F-4D97-AF65-F5344CB8AC3E}">
        <p14:creationId xmlns:p14="http://schemas.microsoft.com/office/powerpoint/2010/main" val="402871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C047E-7094-D64C-D1BD-0901CD7B4AC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Table Structure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p:txBody>
          <a:bodyPr/>
          <a:lstStyle/>
          <a:p>
            <a:pPr marL="0" indent="0" algn="ctr">
              <a:buNone/>
            </a:pPr>
            <a:r>
              <a:rPr lang="en-US" dirty="0">
                <a:latin typeface="Times New Roman" panose="02020603050405020304" pitchFamily="18" charset="0"/>
                <a:cs typeface="Times New Roman" panose="02020603050405020304" pitchFamily="18" charset="0"/>
              </a:rPr>
              <a:t>Table Name : </a:t>
            </a:r>
            <a:r>
              <a:rPr lang="en-US" dirty="0" err="1">
                <a:latin typeface="Times New Roman" panose="02020603050405020304" pitchFamily="18" charset="0"/>
                <a:cs typeface="Times New Roman" panose="02020603050405020304" pitchFamily="18" charset="0"/>
              </a:rPr>
              <a:t>admin_info</a:t>
            </a:r>
            <a:r>
              <a:rPr lang="en-US" dirty="0">
                <a:latin typeface="Times New Roman" panose="02020603050405020304" pitchFamily="18" charset="0"/>
                <a:cs typeface="Times New Roman" panose="02020603050405020304" pitchFamily="18" charset="0"/>
              </a:rPr>
              <a:t>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2214029385"/>
              </p:ext>
            </p:extLst>
          </p:nvPr>
        </p:nvGraphicFramePr>
        <p:xfrm>
          <a:off x="1295400" y="2876365"/>
          <a:ext cx="9601200" cy="3036161"/>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523476">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942257">
                <a:tc>
                  <a:txBody>
                    <a:bodyPr/>
                    <a:lstStyle/>
                    <a:p>
                      <a:pPr algn="ctr"/>
                      <a:r>
                        <a:rPr lang="en-IN" sz="2400" dirty="0" err="1">
                          <a:latin typeface="Times New Roman" panose="02020603050405020304" pitchFamily="18" charset="0"/>
                          <a:cs typeface="Times New Roman" panose="02020603050405020304" pitchFamily="18" charset="0"/>
                        </a:rPr>
                        <a:t>Admin_id</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523476">
                <a:tc>
                  <a:txBody>
                    <a:bodyPr/>
                    <a:lstStyle/>
                    <a:p>
                      <a:pPr algn="ctr"/>
                      <a:r>
                        <a:rPr lang="en-US" sz="2400" dirty="0">
                          <a:latin typeface="Times New Roman" panose="02020603050405020304" pitchFamily="18" charset="0"/>
                          <a:cs typeface="Times New Roman" panose="02020603050405020304" pitchFamily="18" charset="0"/>
                        </a:rPr>
                        <a:t>A</a:t>
                      </a:r>
                      <a:r>
                        <a:rPr lang="en-IN" sz="2400" dirty="0" err="1">
                          <a:latin typeface="Times New Roman" panose="02020603050405020304" pitchFamily="18" charset="0"/>
                          <a:cs typeface="Times New Roman" panose="02020603050405020304" pitchFamily="18" charset="0"/>
                        </a:rPr>
                        <a:t>dmin_name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523476">
                <a:tc>
                  <a:txBody>
                    <a:bodyPr/>
                    <a:lstStyle/>
                    <a:p>
                      <a:pPr algn="ctr"/>
                      <a:r>
                        <a:rPr lang="en-US" sz="2400" dirty="0">
                          <a:latin typeface="Times New Roman" panose="02020603050405020304" pitchFamily="18" charset="0"/>
                          <a:cs typeface="Times New Roman" panose="02020603050405020304" pitchFamily="18" charset="0"/>
                        </a:rPr>
                        <a:t>A</a:t>
                      </a:r>
                      <a:r>
                        <a:rPr lang="en-IN" sz="2400" dirty="0" err="1">
                          <a:latin typeface="Times New Roman" panose="02020603050405020304" pitchFamily="18" charset="0"/>
                          <a:cs typeface="Times New Roman" panose="02020603050405020304" pitchFamily="18" charset="0"/>
                        </a:rPr>
                        <a:t>dmin_username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err="1">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523476">
                <a:tc>
                  <a:txBody>
                    <a:bodyPr/>
                    <a:lstStyle/>
                    <a:p>
                      <a:pPr algn="ctr"/>
                      <a:r>
                        <a:rPr lang="en-US" sz="2400" dirty="0">
                          <a:latin typeface="Times New Roman" panose="02020603050405020304" pitchFamily="18" charset="0"/>
                          <a:cs typeface="Times New Roman" panose="02020603050405020304" pitchFamily="18" charset="0"/>
                        </a:rPr>
                        <a:t>A</a:t>
                      </a:r>
                      <a:r>
                        <a:rPr lang="en-IN" sz="2400" dirty="0" err="1">
                          <a:latin typeface="Times New Roman" panose="02020603050405020304" pitchFamily="18" charset="0"/>
                          <a:cs typeface="Times New Roman" panose="02020603050405020304" pitchFamily="18" charset="0"/>
                        </a:rPr>
                        <a:t>dmin_password</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err="1">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87228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1260629"/>
            <a:ext cx="10515600" cy="4916334"/>
          </a:xfrm>
        </p:spPr>
        <p:txBody>
          <a:bodyPr/>
          <a:lstStyle/>
          <a:p>
            <a:pPr marL="0" indent="0" algn="ctr">
              <a:buNone/>
            </a:pPr>
            <a:endParaRPr lang="en-US" dirty="0"/>
          </a:p>
          <a:p>
            <a:pPr marL="0" indent="0" algn="ctr">
              <a:buNone/>
            </a:pPr>
            <a:r>
              <a:rPr lang="en-US" dirty="0">
                <a:latin typeface="Times New Roman" panose="02020603050405020304" pitchFamily="18" charset="0"/>
                <a:cs typeface="Times New Roman" panose="02020603050405020304" pitchFamily="18" charset="0"/>
              </a:rPr>
              <a:t>Table Name : blood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346108719"/>
              </p:ext>
            </p:extLst>
          </p:nvPr>
        </p:nvGraphicFramePr>
        <p:xfrm>
          <a:off x="1295400" y="2876365"/>
          <a:ext cx="9601200" cy="1989209"/>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523476">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942257">
                <a:tc>
                  <a:txBody>
                    <a:bodyPr/>
                    <a:lstStyle/>
                    <a:p>
                      <a:pPr algn="ctr"/>
                      <a:r>
                        <a:rPr lang="en-US" sz="2400" dirty="0">
                          <a:latin typeface="Times New Roman" panose="02020603050405020304" pitchFamily="18" charset="0"/>
                          <a:cs typeface="Times New Roman" panose="02020603050405020304" pitchFamily="18" charset="0"/>
                        </a:rPr>
                        <a:t>blood</a:t>
                      </a:r>
                      <a:r>
                        <a:rPr lang="en-IN" sz="2400" dirty="0">
                          <a:latin typeface="Times New Roman" panose="02020603050405020304" pitchFamily="18" charset="0"/>
                          <a:cs typeface="Times New Roman" panose="02020603050405020304" pitchFamily="18" charset="0"/>
                        </a:rPr>
                        <a:t>_id</a:t>
                      </a: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11</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523476">
                <a:tc>
                  <a:txBody>
                    <a:bodyPr/>
                    <a:lstStyle/>
                    <a:p>
                      <a:pPr algn="ctr"/>
                      <a:r>
                        <a:rPr lang="en-US" sz="2400" dirty="0">
                          <a:latin typeface="Times New Roman" panose="02020603050405020304" pitchFamily="18" charset="0"/>
                          <a:cs typeface="Times New Roman" panose="02020603050405020304" pitchFamily="18" charset="0"/>
                        </a:rPr>
                        <a:t>blood</a:t>
                      </a:r>
                      <a:r>
                        <a:rPr lang="en-IN" sz="2400" dirty="0">
                          <a:latin typeface="Times New Roman" panose="02020603050405020304" pitchFamily="18" charset="0"/>
                          <a:cs typeface="Times New Roman" panose="02020603050405020304" pitchFamily="18" charset="0"/>
                        </a:rPr>
                        <a:t>_group</a:t>
                      </a:r>
                    </a:p>
                  </a:txBody>
                  <a:tcPr/>
                </a:tc>
                <a:tc>
                  <a:txBody>
                    <a:bodyPr/>
                    <a:lstStyle/>
                    <a:p>
                      <a:pPr algn="ct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14383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301841"/>
            <a:ext cx="10515600" cy="5875122"/>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camp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523195087"/>
              </p:ext>
            </p:extLst>
          </p:nvPr>
        </p:nvGraphicFramePr>
        <p:xfrm>
          <a:off x="1295400" y="1047566"/>
          <a:ext cx="9601200" cy="4480560"/>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445388">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801699">
                <a:tc>
                  <a:txBody>
                    <a:bodyPr/>
                    <a:lstStyle/>
                    <a:p>
                      <a:pPr algn="ctr"/>
                      <a:r>
                        <a:rPr lang="en-IN" sz="2400" dirty="0" err="1">
                          <a:latin typeface="Times New Roman" panose="02020603050405020304" pitchFamily="18" charset="0"/>
                          <a:cs typeface="Times New Roman" panose="02020603050405020304" pitchFamily="18" charset="0"/>
                        </a:rPr>
                        <a:t>camp_id</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445388">
                <a:tc>
                  <a:txBody>
                    <a:bodyPr/>
                    <a:lstStyle/>
                    <a:p>
                      <a:pPr algn="ctr"/>
                      <a:r>
                        <a:rPr lang="en-US" sz="2400" dirty="0">
                          <a:latin typeface="Times New Roman" panose="02020603050405020304" pitchFamily="18" charset="0"/>
                          <a:cs typeface="Times New Roman" panose="02020603050405020304" pitchFamily="18" charset="0"/>
                        </a:rPr>
                        <a:t>camp</a:t>
                      </a:r>
                      <a:r>
                        <a:rPr lang="en-IN" sz="2400" dirty="0">
                          <a:latin typeface="Times New Roman" panose="02020603050405020304" pitchFamily="18" charset="0"/>
                          <a:cs typeface="Times New Roman" panose="02020603050405020304" pitchFamily="18" charset="0"/>
                        </a:rPr>
                        <a:t>_name</a:t>
                      </a:r>
                    </a:p>
                  </a:txBody>
                  <a:tcPr/>
                </a:tc>
                <a:tc>
                  <a:txBody>
                    <a:bodyPr/>
                    <a:lstStyle/>
                    <a:p>
                      <a:pPr algn="ct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445388">
                <a:tc>
                  <a:txBody>
                    <a:bodyPr/>
                    <a:lstStyle/>
                    <a:p>
                      <a:pPr algn="ctr"/>
                      <a:r>
                        <a:rPr lang="en-US" sz="2400" dirty="0">
                          <a:latin typeface="Times New Roman" panose="02020603050405020304" pitchFamily="18" charset="0"/>
                          <a:cs typeface="Times New Roman" panose="02020603050405020304" pitchFamily="18" charset="0"/>
                        </a:rPr>
                        <a:t>Date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t>
                      </a:r>
                      <a:r>
                        <a:rPr lang="en-IN" sz="2400" dirty="0">
                          <a:latin typeface="Times New Roman" panose="02020603050405020304" pitchFamily="18" charset="0"/>
                          <a:cs typeface="Times New Roman" panose="02020603050405020304" pitchFamily="18" charset="0"/>
                        </a:rPr>
                        <a:t>ate</a:t>
                      </a: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445388">
                <a:tc>
                  <a:txBody>
                    <a:bodyPr/>
                    <a:lstStyle/>
                    <a:p>
                      <a:pPr algn="ctr"/>
                      <a:r>
                        <a:rPr lang="en-US" sz="2400" dirty="0">
                          <a:latin typeface="Times New Roman" panose="02020603050405020304" pitchFamily="18" charset="0"/>
                          <a:cs typeface="Times New Roman" panose="02020603050405020304" pitchFamily="18" charset="0"/>
                        </a:rPr>
                        <a:t>Address</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r h="445388">
                <a:tc>
                  <a:txBody>
                    <a:bodyPr/>
                    <a:lstStyle/>
                    <a:p>
                      <a:pPr algn="ctr"/>
                      <a:r>
                        <a:rPr lang="en-US" sz="2400" dirty="0">
                          <a:latin typeface="Times New Roman" panose="02020603050405020304" pitchFamily="18" charset="0"/>
                          <a:cs typeface="Times New Roman" panose="02020603050405020304" pitchFamily="18" charset="0"/>
                        </a:rPr>
                        <a:t>Contact</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8243733"/>
                  </a:ext>
                </a:extLst>
              </a:tr>
              <a:tr h="445388">
                <a:tc>
                  <a:txBody>
                    <a:bodyPr/>
                    <a:lstStyle/>
                    <a:p>
                      <a:pPr algn="ctr"/>
                      <a:r>
                        <a:rPr lang="en-US" sz="2400" dirty="0" err="1">
                          <a:latin typeface="Times New Roman" panose="02020603050405020304" pitchFamily="18" charset="0"/>
                          <a:cs typeface="Times New Roman" panose="02020603050405020304" pitchFamily="18" charset="0"/>
                        </a:rPr>
                        <a:t>Conductedby</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209596"/>
                  </a:ext>
                </a:extLst>
              </a:tr>
              <a:tr h="381468">
                <a:tc>
                  <a:txBody>
                    <a:bodyPr/>
                    <a:lstStyle/>
                    <a:p>
                      <a:pPr algn="ctr"/>
                      <a:r>
                        <a:rPr lang="en-US" sz="2400" dirty="0" err="1">
                          <a:latin typeface="Times New Roman" panose="02020603050405020304" pitchFamily="18" charset="0"/>
                          <a:cs typeface="Times New Roman" panose="02020603050405020304" pitchFamily="18" charset="0"/>
                        </a:rPr>
                        <a:t>Organizedby</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6060214"/>
                  </a:ext>
                </a:extLst>
              </a:tr>
              <a:tr h="445388">
                <a:tc>
                  <a:txBody>
                    <a:bodyPr/>
                    <a:lstStyle/>
                    <a:p>
                      <a:pPr algn="ctr"/>
                      <a:r>
                        <a:rPr lang="en-US" sz="2400" dirty="0">
                          <a:latin typeface="Times New Roman" panose="02020603050405020304" pitchFamily="18" charset="0"/>
                          <a:cs typeface="Times New Roman" panose="02020603050405020304" pitchFamily="18" charset="0"/>
                        </a:rPr>
                        <a:t>time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13895933"/>
                  </a:ext>
                </a:extLst>
              </a:tr>
            </a:tbl>
          </a:graphicData>
        </a:graphic>
      </p:graphicFrame>
    </p:spTree>
    <p:extLst>
      <p:ext uri="{BB962C8B-B14F-4D97-AF65-F5344CB8AC3E}">
        <p14:creationId xmlns:p14="http://schemas.microsoft.com/office/powerpoint/2010/main" val="1249805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976543"/>
            <a:ext cx="10515600" cy="5390017"/>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a:t>
            </a:r>
            <a:r>
              <a:rPr lang="en-US" dirty="0" err="1">
                <a:latin typeface="Times New Roman" panose="02020603050405020304" pitchFamily="18" charset="0"/>
                <a:cs typeface="Times New Roman" panose="02020603050405020304" pitchFamily="18" charset="0"/>
              </a:rPr>
              <a:t>contact_info</a:t>
            </a:r>
            <a:r>
              <a:rPr lang="en-US" dirty="0">
                <a:latin typeface="Times New Roman" panose="02020603050405020304" pitchFamily="18" charset="0"/>
                <a:cs typeface="Times New Roman" panose="02020603050405020304" pitchFamily="18" charset="0"/>
              </a:rPr>
              <a:t> </a:t>
            </a:r>
          </a:p>
          <a:p>
            <a:pPr marL="0" indent="0" algn="ctr">
              <a:buNone/>
            </a:pPr>
            <a:endParaRPr lang="en-US" dirty="0"/>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3147370393"/>
              </p:ext>
            </p:extLst>
          </p:nvPr>
        </p:nvGraphicFramePr>
        <p:xfrm>
          <a:off x="1295400" y="2006353"/>
          <a:ext cx="9601200" cy="3293618"/>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567865">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1022158">
                <a:tc>
                  <a:txBody>
                    <a:bodyPr/>
                    <a:lstStyle/>
                    <a:p>
                      <a:pPr algn="ctr"/>
                      <a:r>
                        <a:rPr lang="en-IN" sz="2400" dirty="0" err="1">
                          <a:latin typeface="Times New Roman" panose="02020603050405020304" pitchFamily="18" charset="0"/>
                          <a:cs typeface="Times New Roman" panose="02020603050405020304" pitchFamily="18" charset="0"/>
                        </a:rPr>
                        <a:t>contact_id</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567865">
                <a:tc>
                  <a:txBody>
                    <a:bodyPr/>
                    <a:lstStyle/>
                    <a:p>
                      <a:pPr algn="ctr"/>
                      <a:r>
                        <a:rPr lang="en-IN" sz="2400" dirty="0" err="1">
                          <a:latin typeface="Times New Roman" panose="02020603050405020304" pitchFamily="18" charset="0"/>
                          <a:cs typeface="Times New Roman" panose="02020603050405020304" pitchFamily="18" charset="0"/>
                        </a:rPr>
                        <a:t>contact_address</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567865">
                <a:tc>
                  <a:txBody>
                    <a:bodyPr/>
                    <a:lstStyle/>
                    <a:p>
                      <a:pPr algn="ctr"/>
                      <a:r>
                        <a:rPr lang="en-IN" sz="2400" dirty="0" err="1">
                          <a:latin typeface="Times New Roman" panose="02020603050405020304" pitchFamily="18" charset="0"/>
                          <a:cs typeface="Times New Roman" panose="02020603050405020304" pitchFamily="18" charset="0"/>
                        </a:rPr>
                        <a:t>contact_mail</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567865">
                <a:tc>
                  <a:txBody>
                    <a:bodyPr/>
                    <a:lstStyle/>
                    <a:p>
                      <a:pPr algn="ctr"/>
                      <a:r>
                        <a:rPr lang="en-IN" sz="2400" dirty="0" err="1">
                          <a:latin typeface="Times New Roman" panose="02020603050405020304" pitchFamily="18" charset="0"/>
                          <a:cs typeface="Times New Roman" panose="02020603050405020304" pitchFamily="18" charset="0"/>
                        </a:rPr>
                        <a:t>contact_phone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bl>
          </a:graphicData>
        </a:graphic>
      </p:graphicFrame>
    </p:spTree>
    <p:extLst>
      <p:ext uri="{BB962C8B-B14F-4D97-AF65-F5344CB8AC3E}">
        <p14:creationId xmlns:p14="http://schemas.microsoft.com/office/powerpoint/2010/main" val="4190796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861133"/>
            <a:ext cx="10515600" cy="5315829"/>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a:t>
            </a:r>
            <a:r>
              <a:rPr lang="en-US" dirty="0" err="1">
                <a:latin typeface="Times New Roman" panose="02020603050405020304" pitchFamily="18" charset="0"/>
                <a:cs typeface="Times New Roman" panose="02020603050405020304" pitchFamily="18" charset="0"/>
              </a:rPr>
              <a:t>contact_query</a:t>
            </a:r>
            <a:r>
              <a:rPr lang="en-US" dirty="0">
                <a:latin typeface="Times New Roman" panose="02020603050405020304" pitchFamily="18" charset="0"/>
                <a:cs typeface="Times New Roman" panose="02020603050405020304" pitchFamily="18" charset="0"/>
              </a:rPr>
              <a:t>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2064282864"/>
              </p:ext>
            </p:extLst>
          </p:nvPr>
        </p:nvGraphicFramePr>
        <p:xfrm>
          <a:off x="1295400" y="2121763"/>
          <a:ext cx="9601200" cy="3566160"/>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445388">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801699">
                <a:tc>
                  <a:txBody>
                    <a:bodyPr/>
                    <a:lstStyle/>
                    <a:p>
                      <a:pPr algn="ctr"/>
                      <a:r>
                        <a:rPr lang="en-US" sz="2400" dirty="0">
                          <a:latin typeface="Times New Roman" panose="02020603050405020304" pitchFamily="18" charset="0"/>
                          <a:cs typeface="Times New Roman" panose="02020603050405020304" pitchFamily="18" charset="0"/>
                        </a:rPr>
                        <a:t>query</a:t>
                      </a:r>
                      <a:r>
                        <a:rPr lang="en-IN" sz="2400" dirty="0">
                          <a:latin typeface="Times New Roman" panose="02020603050405020304" pitchFamily="18" charset="0"/>
                          <a:cs typeface="Times New Roman" panose="02020603050405020304" pitchFamily="18" charset="0"/>
                        </a:rPr>
                        <a:t>_id</a:t>
                      </a: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445388">
                <a:tc>
                  <a:txBody>
                    <a:bodyPr/>
                    <a:lstStyle/>
                    <a:p>
                      <a:pPr algn="ctr"/>
                      <a:r>
                        <a:rPr lang="en-US" sz="2400" dirty="0">
                          <a:latin typeface="Times New Roman" panose="02020603050405020304" pitchFamily="18" charset="0"/>
                          <a:cs typeface="Times New Roman" panose="02020603050405020304" pitchFamily="18" charset="0"/>
                        </a:rPr>
                        <a:t>query</a:t>
                      </a:r>
                      <a:r>
                        <a:rPr lang="en-IN" sz="2400" dirty="0">
                          <a:latin typeface="Times New Roman" panose="02020603050405020304" pitchFamily="18" charset="0"/>
                          <a:cs typeface="Times New Roman" panose="02020603050405020304" pitchFamily="18" charset="0"/>
                        </a:rPr>
                        <a:t>_name</a:t>
                      </a:r>
                    </a:p>
                  </a:txBody>
                  <a:tcPr/>
                </a:tc>
                <a:tc>
                  <a:txBody>
                    <a:bodyPr/>
                    <a:lstStyle/>
                    <a:p>
                      <a:pPr algn="ct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445388">
                <a:tc>
                  <a:txBody>
                    <a:bodyPr/>
                    <a:lstStyle/>
                    <a:p>
                      <a:pPr algn="ctr"/>
                      <a:r>
                        <a:rPr lang="en-US" sz="2400" dirty="0" err="1">
                          <a:latin typeface="Times New Roman" panose="02020603050405020304" pitchFamily="18" charset="0"/>
                          <a:cs typeface="Times New Roman" panose="02020603050405020304" pitchFamily="18" charset="0"/>
                        </a:rPr>
                        <a:t>query_mail</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r>
                        <a:rPr lang="en-IN" sz="2400" dirty="0">
                          <a:latin typeface="Times New Roman" panose="02020603050405020304" pitchFamily="18" charset="0"/>
                          <a:cs typeface="Times New Roman" panose="02020603050405020304" pitchFamily="18" charset="0"/>
                        </a:rPr>
                        <a:t>00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445388">
                <a:tc>
                  <a:txBody>
                    <a:bodyPr/>
                    <a:lstStyle/>
                    <a:p>
                      <a:pPr algn="ctr"/>
                      <a:r>
                        <a:rPr lang="en-US" sz="2400" dirty="0" err="1">
                          <a:latin typeface="Times New Roman" panose="02020603050405020304" pitchFamily="18" charset="0"/>
                          <a:cs typeface="Times New Roman" panose="02020603050405020304" pitchFamily="18" charset="0"/>
                        </a:rPr>
                        <a:t>query_number</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r h="445388">
                <a:tc>
                  <a:txBody>
                    <a:bodyPr/>
                    <a:lstStyle/>
                    <a:p>
                      <a:pPr algn="ctr"/>
                      <a:r>
                        <a:rPr lang="en-US" sz="2400" dirty="0" err="1">
                          <a:latin typeface="Times New Roman" panose="02020603050405020304" pitchFamily="18" charset="0"/>
                          <a:cs typeface="Times New Roman" panose="02020603050405020304" pitchFamily="18" charset="0"/>
                        </a:rPr>
                        <a:t>query_message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err="1">
                          <a:latin typeface="Times New Roman" panose="02020603050405020304" pitchFamily="18" charset="0"/>
                          <a:cs typeface="Times New Roman" panose="02020603050405020304" pitchFamily="18" charset="0"/>
                        </a:rPr>
                        <a:t>longtext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8243733"/>
                  </a:ext>
                </a:extLst>
              </a:tr>
              <a:tr h="445388">
                <a:tc>
                  <a:txBody>
                    <a:bodyPr/>
                    <a:lstStyle/>
                    <a:p>
                      <a:pPr algn="ctr"/>
                      <a:r>
                        <a:rPr lang="en-US" sz="2400" dirty="0">
                          <a:latin typeface="Times New Roman" panose="02020603050405020304" pitchFamily="18" charset="0"/>
                          <a:cs typeface="Times New Roman" panose="02020603050405020304" pitchFamily="18" charset="0"/>
                        </a:rPr>
                        <a:t>date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timestamp</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209596"/>
                  </a:ext>
                </a:extLst>
              </a:tr>
            </a:tbl>
          </a:graphicData>
        </a:graphic>
      </p:graphicFrame>
    </p:spTree>
    <p:extLst>
      <p:ext uri="{BB962C8B-B14F-4D97-AF65-F5344CB8AC3E}">
        <p14:creationId xmlns:p14="http://schemas.microsoft.com/office/powerpoint/2010/main" val="3800126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301841"/>
            <a:ext cx="10515600" cy="5875122"/>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a:t>
            </a:r>
            <a:r>
              <a:rPr lang="en-US" dirty="0" err="1">
                <a:latin typeface="Times New Roman" panose="02020603050405020304" pitchFamily="18" charset="0"/>
                <a:cs typeface="Times New Roman" panose="02020603050405020304" pitchFamily="18" charset="0"/>
              </a:rPr>
              <a:t>donor_details</a:t>
            </a:r>
            <a:r>
              <a:rPr lang="en-US" dirty="0">
                <a:latin typeface="Times New Roman" panose="02020603050405020304" pitchFamily="18" charset="0"/>
                <a:cs typeface="Times New Roman" panose="02020603050405020304" pitchFamily="18" charset="0"/>
              </a:rPr>
              <a:t> </a:t>
            </a:r>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1352179073"/>
              </p:ext>
            </p:extLst>
          </p:nvPr>
        </p:nvGraphicFramePr>
        <p:xfrm>
          <a:off x="1295400" y="1047566"/>
          <a:ext cx="9601200" cy="4480560"/>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445388">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801699">
                <a:tc>
                  <a:txBody>
                    <a:bodyPr/>
                    <a:lstStyle/>
                    <a:p>
                      <a:pPr algn="ctr"/>
                      <a:r>
                        <a:rPr lang="en-IN" sz="2400" dirty="0" err="1">
                          <a:latin typeface="Times New Roman" panose="02020603050405020304" pitchFamily="18" charset="0"/>
                          <a:cs typeface="Times New Roman" panose="02020603050405020304" pitchFamily="18" charset="0"/>
                        </a:rPr>
                        <a:t>donor_id</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445388">
                <a:tc>
                  <a:txBody>
                    <a:bodyPr/>
                    <a:lstStyle/>
                    <a:p>
                      <a:pPr algn="ctr"/>
                      <a:r>
                        <a:rPr lang="en-US" sz="2400" dirty="0">
                          <a:latin typeface="Times New Roman" panose="02020603050405020304" pitchFamily="18" charset="0"/>
                          <a:cs typeface="Times New Roman" panose="02020603050405020304" pitchFamily="18" charset="0"/>
                        </a:rPr>
                        <a:t>donor</a:t>
                      </a:r>
                      <a:r>
                        <a:rPr lang="en-IN" sz="2400" dirty="0">
                          <a:latin typeface="Times New Roman" panose="02020603050405020304" pitchFamily="18" charset="0"/>
                          <a:cs typeface="Times New Roman" panose="02020603050405020304" pitchFamily="18" charset="0"/>
                        </a:rPr>
                        <a:t>_name</a:t>
                      </a:r>
                    </a:p>
                  </a:txBody>
                  <a:tcPr/>
                </a:tc>
                <a:tc>
                  <a:txBody>
                    <a:bodyPr/>
                    <a:lstStyle/>
                    <a:p>
                      <a:pPr algn="ctr"/>
                      <a:r>
                        <a:rPr lang="en-US" sz="2400" dirty="0">
                          <a:latin typeface="Times New Roman" panose="02020603050405020304" pitchFamily="18" charset="0"/>
                          <a:cs typeface="Times New Roman" panose="02020603050405020304" pitchFamily="18" charset="0"/>
                        </a:rPr>
                        <a:t>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445388">
                <a:tc>
                  <a:txBody>
                    <a:bodyPr/>
                    <a:lstStyle/>
                    <a:p>
                      <a:pPr algn="ctr"/>
                      <a:r>
                        <a:rPr lang="en-US" sz="2400" dirty="0" err="1">
                          <a:latin typeface="Times New Roman" panose="02020603050405020304" pitchFamily="18" charset="0"/>
                          <a:cs typeface="Times New Roman" panose="02020603050405020304" pitchFamily="18" charset="0"/>
                        </a:rPr>
                        <a:t>Donor_number</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445388">
                <a:tc>
                  <a:txBody>
                    <a:bodyPr/>
                    <a:lstStyle/>
                    <a:p>
                      <a:pPr algn="ctr"/>
                      <a:r>
                        <a:rPr lang="en-US" sz="2400" dirty="0" err="1">
                          <a:latin typeface="Times New Roman" panose="02020603050405020304" pitchFamily="18" charset="0"/>
                          <a:cs typeface="Times New Roman" panose="02020603050405020304" pitchFamily="18" charset="0"/>
                        </a:rPr>
                        <a:t>Donor_mail</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50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r h="445388">
                <a:tc>
                  <a:txBody>
                    <a:bodyPr/>
                    <a:lstStyle/>
                    <a:p>
                      <a:pPr algn="ctr"/>
                      <a:r>
                        <a:rPr lang="en-US" sz="2400" dirty="0" err="1">
                          <a:latin typeface="Times New Roman" panose="02020603050405020304" pitchFamily="18" charset="0"/>
                          <a:cs typeface="Times New Roman" panose="02020603050405020304" pitchFamily="18" charset="0"/>
                        </a:rPr>
                        <a:t>Donor_age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int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3</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38243733"/>
                  </a:ext>
                </a:extLst>
              </a:tr>
              <a:tr h="445388">
                <a:tc>
                  <a:txBody>
                    <a:bodyPr/>
                    <a:lstStyle/>
                    <a:p>
                      <a:pPr algn="ctr"/>
                      <a:r>
                        <a:rPr lang="en-US" sz="2400" dirty="0" err="1">
                          <a:latin typeface="Times New Roman" panose="02020603050405020304" pitchFamily="18" charset="0"/>
                          <a:cs typeface="Times New Roman" panose="02020603050405020304" pitchFamily="18" charset="0"/>
                        </a:rPr>
                        <a:t>Donor_gender</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9209596"/>
                  </a:ext>
                </a:extLst>
              </a:tr>
              <a:tr h="381468">
                <a:tc>
                  <a:txBody>
                    <a:bodyPr/>
                    <a:lstStyle/>
                    <a:p>
                      <a:pPr algn="ctr"/>
                      <a:r>
                        <a:rPr lang="en-US" sz="2400" dirty="0" err="1">
                          <a:latin typeface="Times New Roman" panose="02020603050405020304" pitchFamily="18" charset="0"/>
                          <a:cs typeface="Times New Roman" panose="02020603050405020304" pitchFamily="18" charset="0"/>
                        </a:rPr>
                        <a:t>Donor_blood</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56060214"/>
                  </a:ext>
                </a:extLst>
              </a:tr>
              <a:tr h="445388">
                <a:tc>
                  <a:txBody>
                    <a:bodyPr/>
                    <a:lstStyle/>
                    <a:p>
                      <a:pPr algn="ctr"/>
                      <a:r>
                        <a:rPr lang="en-US" sz="2400" dirty="0" err="1">
                          <a:latin typeface="Times New Roman" panose="02020603050405020304" pitchFamily="18" charset="0"/>
                          <a:cs typeface="Times New Roman" panose="02020603050405020304" pitchFamily="18" charset="0"/>
                        </a:rPr>
                        <a:t>Donor_address</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100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13895933"/>
                  </a:ext>
                </a:extLst>
              </a:tr>
            </a:tbl>
          </a:graphicData>
        </a:graphic>
      </p:graphicFrame>
    </p:spTree>
    <p:extLst>
      <p:ext uri="{BB962C8B-B14F-4D97-AF65-F5344CB8AC3E}">
        <p14:creationId xmlns:p14="http://schemas.microsoft.com/office/powerpoint/2010/main" val="1391018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47B1F-D73F-F6AF-6370-F5C2B825DC13}"/>
              </a:ext>
            </a:extLst>
          </p:cNvPr>
          <p:cNvSpPr>
            <a:spLocks noGrp="1"/>
          </p:cNvSpPr>
          <p:nvPr>
            <p:ph idx="1"/>
          </p:nvPr>
        </p:nvSpPr>
        <p:spPr>
          <a:xfrm>
            <a:off x="838200" y="976543"/>
            <a:ext cx="10515600" cy="5390017"/>
          </a:xfrm>
        </p:spPr>
        <p:txBody>
          <a:bodyPr/>
          <a:lstStyle/>
          <a:p>
            <a:pPr marL="0" indent="0" algn="ctr">
              <a:buNone/>
            </a:pPr>
            <a:r>
              <a:rPr lang="en-US" dirty="0">
                <a:latin typeface="Times New Roman" panose="02020603050405020304" pitchFamily="18" charset="0"/>
                <a:cs typeface="Times New Roman" panose="02020603050405020304" pitchFamily="18" charset="0"/>
              </a:rPr>
              <a:t>Table Name : pages </a:t>
            </a:r>
          </a:p>
          <a:p>
            <a:pPr marL="0" indent="0" algn="ctr">
              <a:buNone/>
            </a:pPr>
            <a:endParaRPr lang="en-US" dirty="0"/>
          </a:p>
          <a:p>
            <a:pPr marL="0" indent="0" algn="ctr">
              <a:buNone/>
            </a:pPr>
            <a:endParaRPr lang="en-IN" dirty="0"/>
          </a:p>
        </p:txBody>
      </p:sp>
      <p:graphicFrame>
        <p:nvGraphicFramePr>
          <p:cNvPr id="4" name="Content Placeholder 5">
            <a:extLst>
              <a:ext uri="{FF2B5EF4-FFF2-40B4-BE49-F238E27FC236}">
                <a16:creationId xmlns:a16="http://schemas.microsoft.com/office/drawing/2014/main" id="{31E81369-DE4D-AC05-D4CE-DBACAC923121}"/>
              </a:ext>
            </a:extLst>
          </p:cNvPr>
          <p:cNvGraphicFramePr>
            <a:graphicFrameLocks/>
          </p:cNvGraphicFramePr>
          <p:nvPr>
            <p:extLst>
              <p:ext uri="{D42A27DB-BD31-4B8C-83A1-F6EECF244321}">
                <p14:modId xmlns:p14="http://schemas.microsoft.com/office/powerpoint/2010/main" val="1794285399"/>
              </p:ext>
            </p:extLst>
          </p:nvPr>
        </p:nvGraphicFramePr>
        <p:xfrm>
          <a:off x="1295400" y="2006353"/>
          <a:ext cx="9601200" cy="3293618"/>
        </p:xfrm>
        <a:graphic>
          <a:graphicData uri="http://schemas.openxmlformats.org/drawingml/2006/table">
            <a:tbl>
              <a:tblPr firstRow="1" bandRow="1">
                <a:tableStyleId>{073A0DAA-6AF3-43AB-8588-CEC1D06C72B9}</a:tableStyleId>
              </a:tblPr>
              <a:tblGrid>
                <a:gridCol w="24003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2400300">
                  <a:extLst>
                    <a:ext uri="{9D8B030D-6E8A-4147-A177-3AD203B41FA5}">
                      <a16:colId xmlns:a16="http://schemas.microsoft.com/office/drawing/2014/main" val="20002"/>
                    </a:ext>
                  </a:extLst>
                </a:gridCol>
                <a:gridCol w="2400300">
                  <a:extLst>
                    <a:ext uri="{9D8B030D-6E8A-4147-A177-3AD203B41FA5}">
                      <a16:colId xmlns:a16="http://schemas.microsoft.com/office/drawing/2014/main" val="20003"/>
                    </a:ext>
                  </a:extLst>
                </a:gridCol>
              </a:tblGrid>
              <a:tr h="567865">
                <a:tc>
                  <a:txBody>
                    <a:bodyPr/>
                    <a:lstStyle/>
                    <a:p>
                      <a:pPr algn="ctr"/>
                      <a:r>
                        <a:rPr lang="en-IN" sz="2400" dirty="0">
                          <a:latin typeface="Times New Roman" panose="02020603050405020304" pitchFamily="18" charset="0"/>
                          <a:cs typeface="Times New Roman" panose="02020603050405020304" pitchFamily="18" charset="0"/>
                        </a:rPr>
                        <a:t>       Field Name</a:t>
                      </a:r>
                    </a:p>
                  </a:txBody>
                  <a:tcPr/>
                </a:tc>
                <a:tc>
                  <a:txBody>
                    <a:bodyPr/>
                    <a:lstStyle/>
                    <a:p>
                      <a:pPr algn="ctr"/>
                      <a:r>
                        <a:rPr lang="en-IN" sz="2400" dirty="0">
                          <a:latin typeface="Times New Roman" panose="02020603050405020304" pitchFamily="18" charset="0"/>
                          <a:cs typeface="Times New Roman" panose="02020603050405020304" pitchFamily="18" charset="0"/>
                        </a:rPr>
                        <a:t>       Data</a:t>
                      </a:r>
                      <a:r>
                        <a:rPr lang="en-IN" sz="2400" baseline="0" dirty="0">
                          <a:latin typeface="Times New Roman" panose="02020603050405020304" pitchFamily="18" charset="0"/>
                          <a:cs typeface="Times New Roman" panose="02020603050405020304" pitchFamily="18" charset="0"/>
                        </a:rPr>
                        <a:t> Type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 Size</a:t>
                      </a:r>
                    </a:p>
                  </a:txBody>
                  <a:tcPr/>
                </a:tc>
                <a:tc>
                  <a:txBody>
                    <a:bodyPr/>
                    <a:lstStyle/>
                    <a:p>
                      <a:pPr algn="ctr"/>
                      <a:r>
                        <a:rPr lang="en-IN" sz="2400" dirty="0">
                          <a:latin typeface="Times New Roman" panose="02020603050405020304" pitchFamily="18" charset="0"/>
                          <a:cs typeface="Times New Roman" panose="02020603050405020304" pitchFamily="18" charset="0"/>
                        </a:rPr>
                        <a:t>         Constraint</a:t>
                      </a:r>
                    </a:p>
                  </a:txBody>
                  <a:tcPr/>
                </a:tc>
                <a:extLst>
                  <a:ext uri="{0D108BD9-81ED-4DB2-BD59-A6C34878D82A}">
                    <a16:rowId xmlns:a16="http://schemas.microsoft.com/office/drawing/2014/main" val="10000"/>
                  </a:ext>
                </a:extLst>
              </a:tr>
              <a:tr h="1022158">
                <a:tc>
                  <a:txBody>
                    <a:bodyPr/>
                    <a:lstStyle/>
                    <a:p>
                      <a:pPr algn="ctr"/>
                      <a:r>
                        <a:rPr lang="en-IN" sz="2400" dirty="0" err="1">
                          <a:latin typeface="Times New Roman" panose="02020603050405020304" pitchFamily="18" charset="0"/>
                          <a:cs typeface="Times New Roman" panose="02020603050405020304" pitchFamily="18" charset="0"/>
                        </a:rPr>
                        <a:t>page_id</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int</a:t>
                      </a:r>
                    </a:p>
                  </a:txBody>
                  <a:tcPr/>
                </a:tc>
                <a:tc>
                  <a:txBody>
                    <a:bodyPr/>
                    <a:lstStyle/>
                    <a:p>
                      <a:pPr algn="ctr"/>
                      <a:r>
                        <a:rPr lang="en-IN" sz="2400" dirty="0">
                          <a:latin typeface="Times New Roman" panose="02020603050405020304" pitchFamily="18" charset="0"/>
                          <a:cs typeface="Times New Roman" panose="02020603050405020304" pitchFamily="18" charset="0"/>
                        </a:rPr>
                        <a:t>10</a:t>
                      </a:r>
                    </a:p>
                  </a:txBody>
                  <a:tcPr/>
                </a:tc>
                <a:tc>
                  <a:txBody>
                    <a:bodyPr/>
                    <a:lstStyle/>
                    <a:p>
                      <a:pPr algn="ctr"/>
                      <a:r>
                        <a:rPr lang="en-IN" sz="2400" dirty="0">
                          <a:latin typeface="Times New Roman" panose="02020603050405020304" pitchFamily="18" charset="0"/>
                          <a:cs typeface="Times New Roman" panose="02020603050405020304" pitchFamily="18" charset="0"/>
                        </a:rPr>
                        <a:t>Primary Key,</a:t>
                      </a:r>
                    </a:p>
                    <a:p>
                      <a:pPr algn="ctr"/>
                      <a:r>
                        <a:rPr lang="en-IN" sz="2400" dirty="0">
                          <a:latin typeface="Times New Roman" panose="02020603050405020304" pitchFamily="18" charset="0"/>
                          <a:cs typeface="Times New Roman" panose="02020603050405020304" pitchFamily="18" charset="0"/>
                        </a:rPr>
                        <a:t>Auto increment</a:t>
                      </a:r>
                    </a:p>
                  </a:txBody>
                  <a:tcPr/>
                </a:tc>
                <a:extLst>
                  <a:ext uri="{0D108BD9-81ED-4DB2-BD59-A6C34878D82A}">
                    <a16:rowId xmlns:a16="http://schemas.microsoft.com/office/drawing/2014/main" val="10001"/>
                  </a:ext>
                </a:extLst>
              </a:tr>
              <a:tr h="567865">
                <a:tc>
                  <a:txBody>
                    <a:bodyPr/>
                    <a:lstStyle/>
                    <a:p>
                      <a:pPr algn="ctr"/>
                      <a:r>
                        <a:rPr lang="en-IN" sz="2400" dirty="0" err="1">
                          <a:latin typeface="Times New Roman" panose="02020603050405020304" pitchFamily="18" charset="0"/>
                          <a:cs typeface="Times New Roman" panose="02020603050405020304" pitchFamily="18" charset="0"/>
                        </a:rPr>
                        <a:t>page_name</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255</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2"/>
                  </a:ext>
                </a:extLst>
              </a:tr>
              <a:tr h="567865">
                <a:tc>
                  <a:txBody>
                    <a:bodyPr/>
                    <a:lstStyle/>
                    <a:p>
                      <a:pPr algn="ctr"/>
                      <a:r>
                        <a:rPr lang="en-US" sz="2400" dirty="0">
                          <a:latin typeface="Times New Roman" panose="02020603050405020304" pitchFamily="18" charset="0"/>
                          <a:cs typeface="Times New Roman" panose="02020603050405020304" pitchFamily="18" charset="0"/>
                        </a:rPr>
                        <a:t>P</a:t>
                      </a:r>
                      <a:r>
                        <a:rPr lang="en-IN" sz="2400" dirty="0" err="1">
                          <a:latin typeface="Times New Roman" panose="02020603050405020304" pitchFamily="18" charset="0"/>
                          <a:cs typeface="Times New Roman" panose="02020603050405020304" pitchFamily="18" charset="0"/>
                        </a:rPr>
                        <a:t>age_type</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Varchar</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Not Null</a:t>
                      </a:r>
                    </a:p>
                  </a:txBody>
                  <a:tcPr/>
                </a:tc>
                <a:extLst>
                  <a:ext uri="{0D108BD9-81ED-4DB2-BD59-A6C34878D82A}">
                    <a16:rowId xmlns:a16="http://schemas.microsoft.com/office/drawing/2014/main" val="10003"/>
                  </a:ext>
                </a:extLst>
              </a:tr>
              <a:tr h="567865">
                <a:tc>
                  <a:txBody>
                    <a:bodyPr/>
                    <a:lstStyle/>
                    <a:p>
                      <a:pPr algn="ctr"/>
                      <a:r>
                        <a:rPr lang="en-IN" sz="2400" dirty="0" err="1">
                          <a:latin typeface="Times New Roman" panose="02020603050405020304" pitchFamily="18" charset="0"/>
                          <a:cs typeface="Times New Roman" panose="02020603050405020304" pitchFamily="18" charset="0"/>
                        </a:rPr>
                        <a:t>Page_data</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err="1">
                          <a:latin typeface="Times New Roman" panose="02020603050405020304" pitchFamily="18" charset="0"/>
                          <a:cs typeface="Times New Roman" panose="02020603050405020304" pitchFamily="18" charset="0"/>
                        </a:rPr>
                        <a:t>longtext</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Not Null</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1737929"/>
                  </a:ext>
                </a:extLst>
              </a:tr>
            </a:tbl>
          </a:graphicData>
        </a:graphic>
      </p:graphicFrame>
    </p:spTree>
    <p:extLst>
      <p:ext uri="{BB962C8B-B14F-4D97-AF65-F5344CB8AC3E}">
        <p14:creationId xmlns:p14="http://schemas.microsoft.com/office/powerpoint/2010/main" val="1367189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C9DF-7E60-E7A9-4491-7071CA84C180}"/>
              </a:ext>
            </a:extLst>
          </p:cNvPr>
          <p:cNvSpPr>
            <a:spLocks noGrp="1"/>
          </p:cNvSpPr>
          <p:nvPr>
            <p:ph type="title"/>
          </p:nvPr>
        </p:nvSpPr>
        <p:spPr>
          <a:xfrm>
            <a:off x="838200" y="54406"/>
            <a:ext cx="10773792" cy="1290983"/>
          </a:xfrm>
        </p:spPr>
        <p:txBody>
          <a:bodyPr/>
          <a:lstStyle/>
          <a:p>
            <a:r>
              <a:rPr lang="en-US" b="1" dirty="0">
                <a:latin typeface="Times New Roman" panose="02020603050405020304" pitchFamily="18" charset="0"/>
                <a:cs typeface="Times New Roman" panose="02020603050405020304" pitchFamily="18" charset="0"/>
              </a:rPr>
              <a:t>System Flow Chart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DE0799-A604-3AE6-EB4B-AF5EABFBF380}"/>
              </a:ext>
            </a:extLst>
          </p:cNvPr>
          <p:cNvSpPr>
            <a:spLocks noGrp="1"/>
          </p:cNvSpPr>
          <p:nvPr>
            <p:ph idx="1"/>
          </p:nvPr>
        </p:nvSpPr>
        <p:spPr>
          <a:xfrm>
            <a:off x="838200" y="1514906"/>
            <a:ext cx="10773792" cy="4237824"/>
          </a:xfrm>
        </p:spPr>
        <p:txBody>
          <a:bodyPr/>
          <a:lstStyle/>
          <a:p>
            <a:pPr marL="0" indent="0">
              <a:buNone/>
            </a:pPr>
            <a:r>
              <a:rPr lang="en-US" dirty="0"/>
              <a:t>Admin</a:t>
            </a:r>
          </a:p>
          <a:p>
            <a:pPr marL="0" indent="0">
              <a:buNone/>
            </a:pPr>
            <a:endParaRPr lang="en-US" dirty="0"/>
          </a:p>
          <a:p>
            <a:pPr marL="0" indent="0">
              <a:buNone/>
            </a:pPr>
            <a:endParaRPr lang="en-IN" dirty="0"/>
          </a:p>
        </p:txBody>
      </p:sp>
      <p:sp>
        <p:nvSpPr>
          <p:cNvPr id="5" name="Rectangle 4">
            <a:extLst>
              <a:ext uri="{FF2B5EF4-FFF2-40B4-BE49-F238E27FC236}">
                <a16:creationId xmlns:a16="http://schemas.microsoft.com/office/drawing/2014/main" id="{862D5F90-0685-EBA5-208D-8B825598917A}"/>
              </a:ext>
            </a:extLst>
          </p:cNvPr>
          <p:cNvSpPr/>
          <p:nvPr/>
        </p:nvSpPr>
        <p:spPr>
          <a:xfrm>
            <a:off x="5452376" y="1425389"/>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Start</a:t>
            </a:r>
            <a:endParaRPr lang="en-IN"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54A732A6-C4B7-566F-2443-101042719861}"/>
              </a:ext>
            </a:extLst>
          </p:cNvPr>
          <p:cNvSpPr/>
          <p:nvPr/>
        </p:nvSpPr>
        <p:spPr>
          <a:xfrm>
            <a:off x="5452376" y="2320426"/>
            <a:ext cx="1407080"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Login</a:t>
            </a:r>
            <a:endParaRPr lang="en-IN" dirty="0">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CDF8B49B-5119-206B-6FA9-FED536966EC5}"/>
              </a:ext>
            </a:extLst>
          </p:cNvPr>
          <p:cNvCxnSpPr>
            <a:cxnSpLocks/>
            <a:stCxn id="5" idx="2"/>
            <a:endCxn id="7" idx="0"/>
          </p:cNvCxnSpPr>
          <p:nvPr/>
        </p:nvCxnSpPr>
        <p:spPr>
          <a:xfrm>
            <a:off x="6152741" y="2065199"/>
            <a:ext cx="3175" cy="255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6023BE8-46C7-186B-4351-647DE3BDCD41}"/>
              </a:ext>
            </a:extLst>
          </p:cNvPr>
          <p:cNvSpPr/>
          <p:nvPr/>
        </p:nvSpPr>
        <p:spPr>
          <a:xfrm>
            <a:off x="937556" y="4119483"/>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Donor</a:t>
            </a:r>
            <a:endParaRPr lang="en-IN"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EEF370DF-9B4A-4EB7-E4FE-5F6D3D0B84A7}"/>
              </a:ext>
            </a:extLst>
          </p:cNvPr>
          <p:cNvSpPr/>
          <p:nvPr/>
        </p:nvSpPr>
        <p:spPr>
          <a:xfrm>
            <a:off x="3113475" y="4119483"/>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Contact</a:t>
            </a:r>
            <a:r>
              <a:rPr lang="en-US" dirty="0"/>
              <a:t> </a:t>
            </a:r>
            <a:r>
              <a:rPr lang="en-US" dirty="0">
                <a:latin typeface="Times New Roman" panose="02020603050405020304" pitchFamily="18" charset="0"/>
                <a:cs typeface="Times New Roman" panose="02020603050405020304" pitchFamily="18" charset="0"/>
              </a:rPr>
              <a:t>Query</a:t>
            </a:r>
            <a:endParaRPr lang="en-IN"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6A40A135-D6B0-1CC0-92F5-276A5AADD6E5}"/>
              </a:ext>
            </a:extLst>
          </p:cNvPr>
          <p:cNvSpPr/>
          <p:nvPr/>
        </p:nvSpPr>
        <p:spPr>
          <a:xfrm>
            <a:off x="5446026" y="3215463"/>
            <a:ext cx="1407080"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Dashboard</a:t>
            </a:r>
            <a:endParaRPr lang="en-IN"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D6CA7A76-6FBA-2C3D-F028-1CC044E6B9C8}"/>
              </a:ext>
            </a:extLst>
          </p:cNvPr>
          <p:cNvSpPr/>
          <p:nvPr/>
        </p:nvSpPr>
        <p:spPr>
          <a:xfrm>
            <a:off x="7825660" y="4107058"/>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Manage</a:t>
            </a:r>
          </a:p>
          <a:p>
            <a:pPr algn="ctr"/>
            <a:r>
              <a:rPr lang="en-US" dirty="0">
                <a:latin typeface="Times New Roman" panose="02020603050405020304" pitchFamily="18" charset="0"/>
                <a:cs typeface="Times New Roman" panose="02020603050405020304" pitchFamily="18" charset="0"/>
              </a:rPr>
              <a:t>page</a:t>
            </a: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D789002D-77CF-8B7D-A7A3-2EDFAAEF08DE}"/>
              </a:ext>
            </a:extLst>
          </p:cNvPr>
          <p:cNvSpPr/>
          <p:nvPr/>
        </p:nvSpPr>
        <p:spPr>
          <a:xfrm>
            <a:off x="10076406" y="3941685"/>
            <a:ext cx="1400729" cy="83200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Manage</a:t>
            </a:r>
          </a:p>
          <a:p>
            <a:pPr algn="ctr"/>
            <a:r>
              <a:rPr lang="en-US" dirty="0">
                <a:latin typeface="Times New Roman" panose="02020603050405020304" pitchFamily="18" charset="0"/>
                <a:cs typeface="Times New Roman" panose="02020603050405020304" pitchFamily="18" charset="0"/>
              </a:rPr>
              <a:t>Contact</a:t>
            </a:r>
            <a:r>
              <a:rPr lang="en-US" dirty="0"/>
              <a:t> </a:t>
            </a:r>
            <a:r>
              <a:rPr lang="en-US" dirty="0">
                <a:latin typeface="Times New Roman" panose="02020603050405020304" pitchFamily="18" charset="0"/>
                <a:cs typeface="Times New Roman" panose="02020603050405020304" pitchFamily="18" charset="0"/>
              </a:rPr>
              <a:t>Info</a:t>
            </a:r>
            <a:endParaRPr lang="en-IN" dirty="0">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63B1A73C-8761-9891-A87C-80F0BD07E6D7}"/>
              </a:ext>
            </a:extLst>
          </p:cNvPr>
          <p:cNvSpPr/>
          <p:nvPr/>
        </p:nvSpPr>
        <p:spPr>
          <a:xfrm>
            <a:off x="5452377" y="4119483"/>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Manage</a:t>
            </a:r>
          </a:p>
          <a:p>
            <a:pPr algn="ctr"/>
            <a:r>
              <a:rPr lang="en-US" dirty="0">
                <a:latin typeface="Times New Roman" panose="02020603050405020304" pitchFamily="18" charset="0"/>
                <a:cs typeface="Times New Roman" panose="02020603050405020304" pitchFamily="18" charset="0"/>
              </a:rPr>
              <a:t>camp</a:t>
            </a:r>
            <a:endParaRPr lang="en-IN" dirty="0">
              <a:latin typeface="Times New Roman" panose="02020603050405020304" pitchFamily="18" charset="0"/>
              <a:cs typeface="Times New Roman" panose="02020603050405020304" pitchFamily="18" charset="0"/>
            </a:endParaRPr>
          </a:p>
        </p:txBody>
      </p:sp>
      <p:cxnSp>
        <p:nvCxnSpPr>
          <p:cNvPr id="36" name="Straight Arrow Connector 35">
            <a:extLst>
              <a:ext uri="{FF2B5EF4-FFF2-40B4-BE49-F238E27FC236}">
                <a16:creationId xmlns:a16="http://schemas.microsoft.com/office/drawing/2014/main" id="{83820875-E82A-D718-CCA4-D90F427D6DA4}"/>
              </a:ext>
            </a:extLst>
          </p:cNvPr>
          <p:cNvCxnSpPr>
            <a:cxnSpLocks/>
            <a:stCxn id="7" idx="2"/>
            <a:endCxn id="13" idx="0"/>
          </p:cNvCxnSpPr>
          <p:nvPr/>
        </p:nvCxnSpPr>
        <p:spPr>
          <a:xfrm flipH="1">
            <a:off x="6149566" y="2960236"/>
            <a:ext cx="6350" cy="255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BD097114-5436-9675-3174-C844F7869028}"/>
              </a:ext>
            </a:extLst>
          </p:cNvPr>
          <p:cNvCxnSpPr>
            <a:cxnSpLocks/>
            <a:stCxn id="13" idx="2"/>
            <a:endCxn id="16" idx="0"/>
          </p:cNvCxnSpPr>
          <p:nvPr/>
        </p:nvCxnSpPr>
        <p:spPr>
          <a:xfrm>
            <a:off x="6149566" y="3855273"/>
            <a:ext cx="3176" cy="264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44A069D2-E532-651C-72A1-3C0302BE06F3}"/>
              </a:ext>
            </a:extLst>
          </p:cNvPr>
          <p:cNvCxnSpPr>
            <a:cxnSpLocks/>
            <a:stCxn id="13" idx="3"/>
            <a:endCxn id="14" idx="0"/>
          </p:cNvCxnSpPr>
          <p:nvPr/>
        </p:nvCxnSpPr>
        <p:spPr>
          <a:xfrm>
            <a:off x="6853106" y="3535368"/>
            <a:ext cx="1672919" cy="5716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11CD085B-967E-28D5-CD27-56E27881DD45}"/>
              </a:ext>
            </a:extLst>
          </p:cNvPr>
          <p:cNvCxnSpPr>
            <a:cxnSpLocks/>
            <a:stCxn id="13" idx="1"/>
            <a:endCxn id="12" idx="0"/>
          </p:cNvCxnSpPr>
          <p:nvPr/>
        </p:nvCxnSpPr>
        <p:spPr>
          <a:xfrm rot="10800000" flipV="1">
            <a:off x="3813840" y="3535367"/>
            <a:ext cx="1632186" cy="5841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871EBF5A-AE06-9D76-B22A-E8804143DA55}"/>
              </a:ext>
            </a:extLst>
          </p:cNvPr>
          <p:cNvCxnSpPr>
            <a:cxnSpLocks/>
            <a:stCxn id="13" idx="1"/>
            <a:endCxn id="11" idx="0"/>
          </p:cNvCxnSpPr>
          <p:nvPr/>
        </p:nvCxnSpPr>
        <p:spPr>
          <a:xfrm rot="10800000" flipV="1">
            <a:off x="1637922" y="3535367"/>
            <a:ext cx="3808105" cy="5841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D7DD6CF9-20B5-B65D-2971-3DA68ED9CF9B}"/>
              </a:ext>
            </a:extLst>
          </p:cNvPr>
          <p:cNvCxnSpPr>
            <a:cxnSpLocks/>
            <a:stCxn id="13" idx="3"/>
            <a:endCxn id="15" idx="0"/>
          </p:cNvCxnSpPr>
          <p:nvPr/>
        </p:nvCxnSpPr>
        <p:spPr>
          <a:xfrm>
            <a:off x="6853106" y="3535368"/>
            <a:ext cx="3923665" cy="40631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FB7E1281-B770-67F7-7D02-B7CA2B0DE6FA}"/>
              </a:ext>
            </a:extLst>
          </p:cNvPr>
          <p:cNvSpPr/>
          <p:nvPr/>
        </p:nvSpPr>
        <p:spPr>
          <a:xfrm>
            <a:off x="5458727" y="5023189"/>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Log</a:t>
            </a:r>
            <a:r>
              <a:rPr lang="en-US" dirty="0"/>
              <a:t> </a:t>
            </a:r>
            <a:r>
              <a:rPr lang="en-US" dirty="0">
                <a:latin typeface="Times New Roman" panose="02020603050405020304" pitchFamily="18" charset="0"/>
                <a:cs typeface="Times New Roman" panose="02020603050405020304" pitchFamily="18" charset="0"/>
              </a:rPr>
              <a:t>Out</a:t>
            </a:r>
            <a:endParaRPr lang="en-IN" dirty="0">
              <a:latin typeface="Times New Roman" panose="02020603050405020304" pitchFamily="18" charset="0"/>
              <a:cs typeface="Times New Roman" panose="02020603050405020304" pitchFamily="18" charset="0"/>
            </a:endParaRPr>
          </a:p>
        </p:txBody>
      </p:sp>
      <p:cxnSp>
        <p:nvCxnSpPr>
          <p:cNvPr id="72" name="Connector: Elbow 71">
            <a:extLst>
              <a:ext uri="{FF2B5EF4-FFF2-40B4-BE49-F238E27FC236}">
                <a16:creationId xmlns:a16="http://schemas.microsoft.com/office/drawing/2014/main" id="{13A0607B-791F-D6B0-DB26-72586A6898CC}"/>
              </a:ext>
            </a:extLst>
          </p:cNvPr>
          <p:cNvCxnSpPr>
            <a:cxnSpLocks/>
            <a:stCxn id="13" idx="3"/>
            <a:endCxn id="70" idx="3"/>
          </p:cNvCxnSpPr>
          <p:nvPr/>
        </p:nvCxnSpPr>
        <p:spPr>
          <a:xfrm>
            <a:off x="6853106" y="3535368"/>
            <a:ext cx="6350" cy="1807726"/>
          </a:xfrm>
          <a:prstGeom prst="bentConnector3">
            <a:avLst>
              <a:gd name="adj1" fmla="val 370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E2CA6BD2-FB66-2B4B-AC78-9E88FD49AE86}"/>
              </a:ext>
            </a:extLst>
          </p:cNvPr>
          <p:cNvSpPr/>
          <p:nvPr/>
        </p:nvSpPr>
        <p:spPr>
          <a:xfrm>
            <a:off x="5458727" y="5922247"/>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end</a:t>
            </a:r>
            <a:endParaRPr lang="en-IN" dirty="0">
              <a:latin typeface="Times New Roman" panose="02020603050405020304" pitchFamily="18" charset="0"/>
              <a:cs typeface="Times New Roman" panose="02020603050405020304" pitchFamily="18" charset="0"/>
            </a:endParaRPr>
          </a:p>
        </p:txBody>
      </p:sp>
      <p:cxnSp>
        <p:nvCxnSpPr>
          <p:cNvPr id="107" name="Straight Arrow Connector 106">
            <a:extLst>
              <a:ext uri="{FF2B5EF4-FFF2-40B4-BE49-F238E27FC236}">
                <a16:creationId xmlns:a16="http://schemas.microsoft.com/office/drawing/2014/main" id="{268B6F58-C2F0-F023-BF8A-5E0B83BA10FC}"/>
              </a:ext>
            </a:extLst>
          </p:cNvPr>
          <p:cNvCxnSpPr>
            <a:cxnSpLocks/>
            <a:stCxn id="70" idx="2"/>
            <a:endCxn id="74" idx="0"/>
          </p:cNvCxnSpPr>
          <p:nvPr/>
        </p:nvCxnSpPr>
        <p:spPr>
          <a:xfrm>
            <a:off x="6159092" y="5662999"/>
            <a:ext cx="0" cy="259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9FF29439-A731-D96A-6AB0-18229AB7C36D}"/>
              </a:ext>
            </a:extLst>
          </p:cNvPr>
          <p:cNvSpPr txBox="1"/>
          <p:nvPr/>
        </p:nvSpPr>
        <p:spPr>
          <a:xfrm>
            <a:off x="6225096" y="2898692"/>
            <a:ext cx="491225" cy="369332"/>
          </a:xfrm>
          <a:prstGeom prst="rect">
            <a:avLst/>
          </a:prstGeom>
          <a:noFill/>
        </p:spPr>
        <p:txBody>
          <a:bodyPr wrap="none" rtlCol="0">
            <a:spAutoFit/>
          </a:bodyPr>
          <a:lstStyle/>
          <a:p>
            <a:r>
              <a:rPr lang="en-US" dirty="0"/>
              <a:t>yes</a:t>
            </a:r>
            <a:endParaRPr lang="en-IN" dirty="0"/>
          </a:p>
        </p:txBody>
      </p:sp>
      <p:cxnSp>
        <p:nvCxnSpPr>
          <p:cNvPr id="127" name="Connector: Elbow 126">
            <a:extLst>
              <a:ext uri="{FF2B5EF4-FFF2-40B4-BE49-F238E27FC236}">
                <a16:creationId xmlns:a16="http://schemas.microsoft.com/office/drawing/2014/main" id="{CEDE0B65-114B-3EDF-6392-6951A851C49C}"/>
              </a:ext>
            </a:extLst>
          </p:cNvPr>
          <p:cNvCxnSpPr>
            <a:cxnSpLocks/>
            <a:stCxn id="7" idx="3"/>
            <a:endCxn id="74" idx="3"/>
          </p:cNvCxnSpPr>
          <p:nvPr/>
        </p:nvCxnSpPr>
        <p:spPr>
          <a:xfrm>
            <a:off x="6859456" y="2640331"/>
            <a:ext cx="12700" cy="3601821"/>
          </a:xfrm>
          <a:prstGeom prst="bentConnector3">
            <a:avLst>
              <a:gd name="adj1" fmla="val 38079606"/>
            </a:avLst>
          </a:prstGeom>
          <a:ln>
            <a:tailEnd type="triangle"/>
          </a:ln>
        </p:spPr>
        <p:style>
          <a:lnRef idx="1">
            <a:schemeClr val="accent1"/>
          </a:lnRef>
          <a:fillRef idx="0">
            <a:schemeClr val="accent1"/>
          </a:fillRef>
          <a:effectRef idx="0">
            <a:schemeClr val="accent1"/>
          </a:effectRef>
          <a:fontRef idx="minor">
            <a:schemeClr val="tx1"/>
          </a:fontRef>
        </p:style>
      </p:cxnSp>
      <p:sp>
        <p:nvSpPr>
          <p:cNvPr id="130" name="TextBox 129">
            <a:extLst>
              <a:ext uri="{FF2B5EF4-FFF2-40B4-BE49-F238E27FC236}">
                <a16:creationId xmlns:a16="http://schemas.microsoft.com/office/drawing/2014/main" id="{E0788067-AAED-9668-3C04-F3EA81EF2780}"/>
              </a:ext>
            </a:extLst>
          </p:cNvPr>
          <p:cNvSpPr txBox="1"/>
          <p:nvPr/>
        </p:nvSpPr>
        <p:spPr>
          <a:xfrm>
            <a:off x="10450427" y="2353017"/>
            <a:ext cx="455574" cy="369332"/>
          </a:xfrm>
          <a:prstGeom prst="rect">
            <a:avLst/>
          </a:prstGeom>
          <a:noFill/>
        </p:spPr>
        <p:txBody>
          <a:bodyPr wrap="none" rtlCol="0">
            <a:spAutoFit/>
          </a:bodyPr>
          <a:lstStyle/>
          <a:p>
            <a:r>
              <a:rPr lang="en-US" dirty="0"/>
              <a:t>No</a:t>
            </a:r>
          </a:p>
        </p:txBody>
      </p:sp>
    </p:spTree>
    <p:extLst>
      <p:ext uri="{BB962C8B-B14F-4D97-AF65-F5344CB8AC3E}">
        <p14:creationId xmlns:p14="http://schemas.microsoft.com/office/powerpoint/2010/main" val="1654422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FC9DF-7E60-E7A9-4491-7071CA84C180}"/>
              </a:ext>
            </a:extLst>
          </p:cNvPr>
          <p:cNvSpPr>
            <a:spLocks noGrp="1"/>
          </p:cNvSpPr>
          <p:nvPr>
            <p:ph type="title"/>
          </p:nvPr>
        </p:nvSpPr>
        <p:spPr>
          <a:xfrm>
            <a:off x="838200" y="54406"/>
            <a:ext cx="10773792" cy="1290983"/>
          </a:xfrm>
        </p:spPr>
        <p:txBody>
          <a:bodyPr/>
          <a:lstStyle/>
          <a:p>
            <a:r>
              <a:rPr lang="en-US" b="1" dirty="0">
                <a:latin typeface="Times New Roman" panose="02020603050405020304" pitchFamily="18" charset="0"/>
                <a:cs typeface="Times New Roman" panose="02020603050405020304" pitchFamily="18" charset="0"/>
              </a:rPr>
              <a:t>System Flow Chart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DE0799-A604-3AE6-EB4B-AF5EABFBF380}"/>
              </a:ext>
            </a:extLst>
          </p:cNvPr>
          <p:cNvSpPr>
            <a:spLocks noGrp="1"/>
          </p:cNvSpPr>
          <p:nvPr>
            <p:ph idx="1"/>
          </p:nvPr>
        </p:nvSpPr>
        <p:spPr>
          <a:xfrm>
            <a:off x="838200" y="1514906"/>
            <a:ext cx="10773792" cy="4237824"/>
          </a:xfrm>
        </p:spPr>
        <p:txBody>
          <a:bodyPr/>
          <a:lstStyle/>
          <a:p>
            <a:pPr marL="0" indent="0">
              <a:buNone/>
            </a:pPr>
            <a:r>
              <a:rPr lang="en-US" dirty="0"/>
              <a:t>User</a:t>
            </a:r>
          </a:p>
          <a:p>
            <a:pPr marL="0" indent="0">
              <a:buNone/>
            </a:pPr>
            <a:endParaRPr lang="en-US" dirty="0"/>
          </a:p>
          <a:p>
            <a:pPr marL="0" indent="0">
              <a:buNone/>
            </a:pPr>
            <a:endParaRPr lang="en-IN" dirty="0"/>
          </a:p>
        </p:txBody>
      </p:sp>
      <p:sp>
        <p:nvSpPr>
          <p:cNvPr id="5" name="Rectangle 4">
            <a:extLst>
              <a:ext uri="{FF2B5EF4-FFF2-40B4-BE49-F238E27FC236}">
                <a16:creationId xmlns:a16="http://schemas.microsoft.com/office/drawing/2014/main" id="{862D5F90-0685-EBA5-208D-8B825598917A}"/>
              </a:ext>
            </a:extLst>
          </p:cNvPr>
          <p:cNvSpPr/>
          <p:nvPr/>
        </p:nvSpPr>
        <p:spPr>
          <a:xfrm>
            <a:off x="5452376" y="1425389"/>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Start</a:t>
            </a:r>
            <a:endParaRPr lang="en-IN"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54A732A6-C4B7-566F-2443-101042719861}"/>
              </a:ext>
            </a:extLst>
          </p:cNvPr>
          <p:cNvSpPr/>
          <p:nvPr/>
        </p:nvSpPr>
        <p:spPr>
          <a:xfrm>
            <a:off x="5452376" y="2320426"/>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Home</a:t>
            </a:r>
            <a:endParaRPr lang="en-IN" dirty="0">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CDF8B49B-5119-206B-6FA9-FED536966EC5}"/>
              </a:ext>
            </a:extLst>
          </p:cNvPr>
          <p:cNvCxnSpPr>
            <a:cxnSpLocks/>
            <a:stCxn id="5" idx="2"/>
            <a:endCxn id="7" idx="0"/>
          </p:cNvCxnSpPr>
          <p:nvPr/>
        </p:nvCxnSpPr>
        <p:spPr>
          <a:xfrm>
            <a:off x="6152741" y="2065199"/>
            <a:ext cx="0" cy="255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6023BE8-46C7-186B-4351-647DE3BDCD41}"/>
              </a:ext>
            </a:extLst>
          </p:cNvPr>
          <p:cNvSpPr/>
          <p:nvPr/>
        </p:nvSpPr>
        <p:spPr>
          <a:xfrm>
            <a:off x="937556" y="4119483"/>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About</a:t>
            </a:r>
            <a:r>
              <a:rPr lang="en-US" dirty="0"/>
              <a:t> </a:t>
            </a:r>
            <a:r>
              <a:rPr lang="en-US" dirty="0">
                <a:latin typeface="Times New Roman" panose="02020603050405020304" pitchFamily="18" charset="0"/>
                <a:cs typeface="Times New Roman" panose="02020603050405020304" pitchFamily="18" charset="0"/>
              </a:rPr>
              <a:t>US</a:t>
            </a:r>
            <a:endParaRPr lang="en-IN"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EEF370DF-9B4A-4EB7-E4FE-5F6D3D0B84A7}"/>
              </a:ext>
            </a:extLst>
          </p:cNvPr>
          <p:cNvSpPr/>
          <p:nvPr/>
        </p:nvSpPr>
        <p:spPr>
          <a:xfrm>
            <a:off x="3113475" y="4119483"/>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latin typeface="Times New Roman" panose="02020603050405020304" pitchFamily="18" charset="0"/>
                <a:cs typeface="Times New Roman" panose="02020603050405020304" pitchFamily="18" charset="0"/>
              </a:rPr>
              <a:t>View Camp Details</a:t>
            </a:r>
          </a:p>
        </p:txBody>
      </p:sp>
      <p:sp>
        <p:nvSpPr>
          <p:cNvPr id="13" name="Rectangle 12">
            <a:extLst>
              <a:ext uri="{FF2B5EF4-FFF2-40B4-BE49-F238E27FC236}">
                <a16:creationId xmlns:a16="http://schemas.microsoft.com/office/drawing/2014/main" id="{6A40A135-D6B0-1CC0-92F5-276A5AADD6E5}"/>
              </a:ext>
            </a:extLst>
          </p:cNvPr>
          <p:cNvSpPr/>
          <p:nvPr/>
        </p:nvSpPr>
        <p:spPr>
          <a:xfrm>
            <a:off x="5452377" y="3215463"/>
            <a:ext cx="1400728"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Dashboard</a:t>
            </a:r>
            <a:endParaRPr lang="en-IN"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D6CA7A76-6FBA-2C3D-F028-1CC044E6B9C8}"/>
              </a:ext>
            </a:extLst>
          </p:cNvPr>
          <p:cNvSpPr/>
          <p:nvPr/>
        </p:nvSpPr>
        <p:spPr>
          <a:xfrm>
            <a:off x="7825660" y="4107058"/>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latin typeface="Times New Roman" panose="02020603050405020304" pitchFamily="18" charset="0"/>
                <a:cs typeface="Times New Roman" panose="02020603050405020304" pitchFamily="18" charset="0"/>
              </a:rPr>
              <a:t>Registration as Donor</a:t>
            </a:r>
          </a:p>
        </p:txBody>
      </p:sp>
      <p:sp>
        <p:nvSpPr>
          <p:cNvPr id="15" name="Rectangle 14">
            <a:extLst>
              <a:ext uri="{FF2B5EF4-FFF2-40B4-BE49-F238E27FC236}">
                <a16:creationId xmlns:a16="http://schemas.microsoft.com/office/drawing/2014/main" id="{D789002D-77CF-8B7D-A7A3-2EDFAAEF08DE}"/>
              </a:ext>
            </a:extLst>
          </p:cNvPr>
          <p:cNvSpPr/>
          <p:nvPr/>
        </p:nvSpPr>
        <p:spPr>
          <a:xfrm>
            <a:off x="9994001" y="4107058"/>
            <a:ext cx="1400729" cy="822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latin typeface="Times New Roman" panose="02020603050405020304" pitchFamily="18" charset="0"/>
                <a:cs typeface="Times New Roman" panose="02020603050405020304" pitchFamily="18" charset="0"/>
              </a:rPr>
              <a:t>Search Available Blood</a:t>
            </a:r>
          </a:p>
        </p:txBody>
      </p:sp>
      <p:sp>
        <p:nvSpPr>
          <p:cNvPr id="16" name="Rectangle 15">
            <a:extLst>
              <a:ext uri="{FF2B5EF4-FFF2-40B4-BE49-F238E27FC236}">
                <a16:creationId xmlns:a16="http://schemas.microsoft.com/office/drawing/2014/main" id="{63B1A73C-8761-9891-A87C-80F0BD07E6D7}"/>
              </a:ext>
            </a:extLst>
          </p:cNvPr>
          <p:cNvSpPr/>
          <p:nvPr/>
        </p:nvSpPr>
        <p:spPr>
          <a:xfrm>
            <a:off x="4861056" y="5112920"/>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dirty="0">
                <a:latin typeface="Times New Roman" panose="02020603050405020304" pitchFamily="18" charset="0"/>
                <a:cs typeface="Times New Roman" panose="02020603050405020304" pitchFamily="18" charset="0"/>
              </a:rPr>
              <a:t>View Blood Donor Info</a:t>
            </a:r>
          </a:p>
        </p:txBody>
      </p:sp>
      <p:cxnSp>
        <p:nvCxnSpPr>
          <p:cNvPr id="36" name="Straight Arrow Connector 35">
            <a:extLst>
              <a:ext uri="{FF2B5EF4-FFF2-40B4-BE49-F238E27FC236}">
                <a16:creationId xmlns:a16="http://schemas.microsoft.com/office/drawing/2014/main" id="{83820875-E82A-D718-CCA4-D90F427D6DA4}"/>
              </a:ext>
            </a:extLst>
          </p:cNvPr>
          <p:cNvCxnSpPr>
            <a:cxnSpLocks/>
            <a:stCxn id="7" idx="2"/>
            <a:endCxn id="13" idx="0"/>
          </p:cNvCxnSpPr>
          <p:nvPr/>
        </p:nvCxnSpPr>
        <p:spPr>
          <a:xfrm>
            <a:off x="6152741" y="2960236"/>
            <a:ext cx="0" cy="255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44A069D2-E532-651C-72A1-3C0302BE06F3}"/>
              </a:ext>
            </a:extLst>
          </p:cNvPr>
          <p:cNvCxnSpPr>
            <a:cxnSpLocks/>
            <a:stCxn id="13" idx="3"/>
            <a:endCxn id="14" idx="0"/>
          </p:cNvCxnSpPr>
          <p:nvPr/>
        </p:nvCxnSpPr>
        <p:spPr>
          <a:xfrm>
            <a:off x="6853105" y="3535368"/>
            <a:ext cx="1672920" cy="5716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11CD085B-967E-28D5-CD27-56E27881DD45}"/>
              </a:ext>
            </a:extLst>
          </p:cNvPr>
          <p:cNvCxnSpPr>
            <a:cxnSpLocks/>
            <a:stCxn id="13" idx="1"/>
            <a:endCxn id="12" idx="0"/>
          </p:cNvCxnSpPr>
          <p:nvPr/>
        </p:nvCxnSpPr>
        <p:spPr>
          <a:xfrm rot="10800000" flipV="1">
            <a:off x="3813841" y="3535367"/>
            <a:ext cx="1638537" cy="5841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871EBF5A-AE06-9D76-B22A-E8804143DA55}"/>
              </a:ext>
            </a:extLst>
          </p:cNvPr>
          <p:cNvCxnSpPr>
            <a:cxnSpLocks/>
            <a:stCxn id="13" idx="1"/>
            <a:endCxn id="11" idx="0"/>
          </p:cNvCxnSpPr>
          <p:nvPr/>
        </p:nvCxnSpPr>
        <p:spPr>
          <a:xfrm rot="10800000" flipV="1">
            <a:off x="1637921" y="3535367"/>
            <a:ext cx="3814456" cy="584115"/>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D7DD6CF9-20B5-B65D-2971-3DA68ED9CF9B}"/>
              </a:ext>
            </a:extLst>
          </p:cNvPr>
          <p:cNvCxnSpPr>
            <a:cxnSpLocks/>
            <a:stCxn id="13" idx="3"/>
            <a:endCxn id="15" idx="0"/>
          </p:cNvCxnSpPr>
          <p:nvPr/>
        </p:nvCxnSpPr>
        <p:spPr>
          <a:xfrm>
            <a:off x="6853105" y="3535368"/>
            <a:ext cx="3841261" cy="5716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FB7E1281-B770-67F7-7D02-B7CA2B0DE6FA}"/>
              </a:ext>
            </a:extLst>
          </p:cNvPr>
          <p:cNvSpPr/>
          <p:nvPr/>
        </p:nvSpPr>
        <p:spPr>
          <a:xfrm>
            <a:off x="6630580" y="5125345"/>
            <a:ext cx="1400729" cy="6398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Contact</a:t>
            </a:r>
            <a:r>
              <a:rPr lang="en-US" dirty="0"/>
              <a:t> </a:t>
            </a:r>
            <a:r>
              <a:rPr lang="en-US" dirty="0">
                <a:latin typeface="Times New Roman" panose="02020603050405020304" pitchFamily="18" charset="0"/>
                <a:cs typeface="Times New Roman" panose="02020603050405020304" pitchFamily="18" charset="0"/>
              </a:rPr>
              <a:t>Admin</a:t>
            </a:r>
            <a:r>
              <a:rPr lang="en-US" dirty="0"/>
              <a:t> </a:t>
            </a:r>
            <a:endParaRPr lang="en-IN" dirty="0"/>
          </a:p>
        </p:txBody>
      </p:sp>
      <p:cxnSp>
        <p:nvCxnSpPr>
          <p:cNvPr id="72" name="Connector: Elbow 71">
            <a:extLst>
              <a:ext uri="{FF2B5EF4-FFF2-40B4-BE49-F238E27FC236}">
                <a16:creationId xmlns:a16="http://schemas.microsoft.com/office/drawing/2014/main" id="{13A0607B-791F-D6B0-DB26-72586A6898CC}"/>
              </a:ext>
            </a:extLst>
          </p:cNvPr>
          <p:cNvCxnSpPr>
            <a:cxnSpLocks/>
            <a:stCxn id="13" idx="3"/>
            <a:endCxn id="70" idx="0"/>
          </p:cNvCxnSpPr>
          <p:nvPr/>
        </p:nvCxnSpPr>
        <p:spPr>
          <a:xfrm>
            <a:off x="6853105" y="3535368"/>
            <a:ext cx="477840" cy="158997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DEC8300B-44A1-8980-B9FD-D6CB861F1A8E}"/>
              </a:ext>
            </a:extLst>
          </p:cNvPr>
          <p:cNvCxnSpPr>
            <a:cxnSpLocks/>
            <a:stCxn id="13" idx="2"/>
            <a:endCxn id="16" idx="0"/>
          </p:cNvCxnSpPr>
          <p:nvPr/>
        </p:nvCxnSpPr>
        <p:spPr>
          <a:xfrm rot="5400000">
            <a:off x="5228258" y="4188436"/>
            <a:ext cx="1257647" cy="59132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271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5A2F9111-B2DB-470C-BA56-608F9B658826}"/>
    </a:ext>
  </a:extLst>
</a:theme>
</file>

<file path=docProps/app.xml><?xml version="1.0" encoding="utf-8"?>
<Properties xmlns="http://schemas.openxmlformats.org/officeDocument/2006/extended-properties" xmlns:vt="http://schemas.openxmlformats.org/officeDocument/2006/docPropsVTypes">
  <Template>Ion</Template>
  <TotalTime>202</TotalTime>
  <Words>810</Words>
  <Application>Microsoft Office PowerPoint</Application>
  <PresentationFormat>Widescreen</PresentationFormat>
  <Paragraphs>264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Times New Roman</vt:lpstr>
      <vt:lpstr>Wingdings 3</vt:lpstr>
      <vt:lpstr>Ion</vt:lpstr>
      <vt:lpstr>Blood &amp; Bank Donation Management System </vt:lpstr>
      <vt:lpstr>Introduction</vt:lpstr>
      <vt:lpstr>Project Profile</vt:lpstr>
      <vt:lpstr>Objective Of The System</vt:lpstr>
      <vt:lpstr>Purposed System</vt:lpstr>
      <vt:lpstr>Purposed System</vt:lpstr>
      <vt:lpstr>Table Structure</vt:lpstr>
      <vt:lpstr>PowerPoint Presentation</vt:lpstr>
      <vt:lpstr>PowerPoint Presentation</vt:lpstr>
      <vt:lpstr>PowerPoint Presentation</vt:lpstr>
      <vt:lpstr>PowerPoint Presentation</vt:lpstr>
      <vt:lpstr>PowerPoint Presentation</vt:lpstr>
      <vt:lpstr>PowerPoint Presentation</vt:lpstr>
      <vt:lpstr>System Flow Chart</vt:lpstr>
      <vt:lpstr>System Flow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&amp; Bank Donation Management System </dc:title>
  <dc:creator>TARANG DEVANI</dc:creator>
  <cp:lastModifiedBy>TARANG DEVANI</cp:lastModifiedBy>
  <cp:revision>56</cp:revision>
  <dcterms:created xsi:type="dcterms:W3CDTF">2022-09-10T15:21:51Z</dcterms:created>
  <dcterms:modified xsi:type="dcterms:W3CDTF">2023-03-03T07:25:33Z</dcterms:modified>
</cp:coreProperties>
</file>